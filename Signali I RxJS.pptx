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5" r:id="rId4"/>
  </p:sldMasterIdLst>
  <p:notesMasterIdLst>
    <p:notesMasterId r:id="rId24"/>
  </p:notesMasterIdLst>
  <p:sldIdLst>
    <p:sldId id="278" r:id="rId5"/>
    <p:sldId id="279" r:id="rId6"/>
    <p:sldId id="280" r:id="rId7"/>
    <p:sldId id="282" r:id="rId8"/>
    <p:sldId id="290" r:id="rId9"/>
    <p:sldId id="296" r:id="rId10"/>
    <p:sldId id="293" r:id="rId11"/>
    <p:sldId id="291" r:id="rId12"/>
    <p:sldId id="292" r:id="rId13"/>
    <p:sldId id="284" r:id="rId14"/>
    <p:sldId id="294" r:id="rId15"/>
    <p:sldId id="289" r:id="rId16"/>
    <p:sldId id="295" r:id="rId17"/>
    <p:sldId id="286" r:id="rId18"/>
    <p:sldId id="285" r:id="rId19"/>
    <p:sldId id="287" r:id="rId20"/>
    <p:sldId id="297" r:id="rId21"/>
    <p:sldId id="298" r:id="rId22"/>
    <p:sldId id="288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19" autoAdjust="0"/>
  </p:normalViewPr>
  <p:slideViewPr>
    <p:cSldViewPr snapToGrid="0">
      <p:cViewPr varScale="1">
        <p:scale>
          <a:sx n="80" d="100"/>
          <a:sy n="80" d="100"/>
        </p:scale>
        <p:origin x="7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01546-198A-4195-BCF8-F0FF54C90E5E}" type="datetimeFigureOut">
              <a:rPr lang="en-US" smtClean="0"/>
              <a:t>1/8/2026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6DE88F-1F85-4A27-9D34-D74A50E7B0D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0091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3AEA074-24A7-4657-AE02-A51F68EA6AA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578475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6DE88F-1F85-4A27-9D34-D74A50E7B0DA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93135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88D38747-4367-4BD2-8D51-C97E202738E2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05576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55A3C-5767-4844-A0A3-83778C2E5409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4806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507A8-A5CF-4D38-AB86-7EDDA87A85D4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71718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CD27C-8599-43EF-BA1D-14DDC1946E06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6002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343D99-809A-49C0-96E5-4250D0B498EE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50314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3DE9B-B678-4EFB-BB7D-A4370204A0B0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65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812DA-F765-4142-A6A3-A8ED7235E082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1694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77FD-7DE6-41D4-930D-AC99F5AFE54E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40234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15526-7079-4B7B-987C-1B5FAE11A0FF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86114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ED0CC-082F-4160-86E5-0D6041F12778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9338662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ED0CC-082F-4160-86E5-0D6041F12778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532176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49"/>
            <a:ext cx="3300984" cy="764783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768110"/>
            <a:ext cx="3300984" cy="302308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79DC3-C9B5-499E-9140-0DC28B7074E2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413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073ED0CC-082F-4160-86E5-0D6041F12778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1026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itagolubovic/SignalsAndRxJs" TargetMode="External"/><Relationship Id="rId2" Type="http://schemas.openxmlformats.org/officeDocument/2006/relationships/hyperlink" Target="https://angular.dev/reference/version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localhost:4200/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8A1C807-B9AD-4C9B-BF9F-60F0342899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" y="10"/>
            <a:ext cx="12192001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1F047C-C727-42A7-85C5-68C5AA1B1A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93678" y="2571750"/>
            <a:ext cx="9004641" cy="1714500"/>
          </a:xfrm>
        </p:spPr>
        <p:txBody>
          <a:bodyPr>
            <a:noAutofit/>
          </a:bodyPr>
          <a:lstStyle/>
          <a:p>
            <a:pPr algn="ctr"/>
            <a:r>
              <a:rPr lang="en-US" sz="3200" dirty="0" err="1"/>
              <a:t>RxJS</a:t>
            </a:r>
            <a:r>
              <a:rPr lang="en-US" sz="3200" dirty="0"/>
              <a:t> I Angular Signals:</a:t>
            </a:r>
            <a:br>
              <a:rPr lang="en-US" sz="3200" dirty="0"/>
            </a:br>
            <a:r>
              <a:rPr lang="en-US" sz="3200" dirty="0"/>
              <a:t> </a:t>
            </a:r>
            <a:r>
              <a:rPr lang="en-US" sz="3200" dirty="0" err="1"/>
              <a:t>Reaktivna</a:t>
            </a:r>
            <a:r>
              <a:rPr lang="en-US" sz="3200" dirty="0"/>
              <a:t> Shopping Cart </a:t>
            </a:r>
            <a:r>
              <a:rPr lang="en-US" sz="3200" dirty="0" err="1"/>
              <a:t>aplikacija</a:t>
            </a:r>
            <a:br>
              <a:rPr lang="en-US" sz="3200" dirty="0"/>
            </a:br>
            <a:endParaRPr lang="en-US" sz="3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93FB3F-A8D4-46D3-A1C6-C79C645637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05619" y="5396183"/>
            <a:ext cx="3485072" cy="1026544"/>
          </a:xfrm>
        </p:spPr>
        <p:txBody>
          <a:bodyPr>
            <a:normAutofit/>
          </a:bodyPr>
          <a:lstStyle/>
          <a:p>
            <a:pPr algn="l"/>
            <a:r>
              <a:rPr lang="en-US" sz="2300" dirty="0"/>
              <a:t>Anita </a:t>
            </a:r>
            <a:r>
              <a:rPr lang="sr-Latn-RS" sz="2300" dirty="0"/>
              <a:t>Golubović, </a:t>
            </a:r>
          </a:p>
          <a:p>
            <a:pPr algn="l"/>
            <a:r>
              <a:rPr lang="sr-Latn-RS" sz="2300" dirty="0"/>
              <a:t>broj indeksa: 2095</a:t>
            </a:r>
            <a:endParaRPr lang="en-US" sz="2300" dirty="0"/>
          </a:p>
        </p:txBody>
      </p:sp>
    </p:spTree>
    <p:extLst>
      <p:ext uri="{BB962C8B-B14F-4D97-AF65-F5344CB8AC3E}">
        <p14:creationId xmlns:p14="http://schemas.microsoft.com/office/powerpoint/2010/main" val="41678842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2B2D6DE-C9B5-4678-91EF-77E85F2350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-1"/>
          <a:stretch/>
        </p:blipFill>
        <p:spPr>
          <a:xfrm>
            <a:off x="-8622" y="10"/>
            <a:ext cx="609600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9559F60-4CE1-4E2F-86EA-1B60679F1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00493" y="609600"/>
            <a:ext cx="4538124" cy="970450"/>
          </a:xfrm>
        </p:spPr>
        <p:txBody>
          <a:bodyPr anchor="b">
            <a:normAutofit/>
          </a:bodyPr>
          <a:lstStyle/>
          <a:p>
            <a:pPr algn="l"/>
            <a:r>
              <a:rPr lang="sr-Latn-RS" sz="4000" dirty="0"/>
              <a:t>Sadržaj:</a:t>
            </a:r>
            <a:endParaRPr lang="en-US" sz="4000" dirty="0"/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F260476B-CCA6-412B-A9C5-399C34AE6F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00493" y="1827699"/>
            <a:ext cx="5074739" cy="4058751"/>
          </a:xfrm>
        </p:spPr>
        <p:txBody>
          <a:bodyPr anchor="t">
            <a:normAutofit/>
          </a:bodyPr>
          <a:lstStyle/>
          <a:p>
            <a:pPr marL="494100" lvl="0" indent="-457200">
              <a:buFont typeface="+mj-lt"/>
              <a:buAutoNum type="arabicPeriod"/>
            </a:pPr>
            <a:r>
              <a:rPr lang="sr-Latn-RS" sz="2400" dirty="0"/>
              <a:t>Reaktivno programiranje</a:t>
            </a:r>
            <a:endParaRPr lang="en-US" sz="2400" dirty="0"/>
          </a:p>
          <a:p>
            <a:pPr marL="494100" lvl="0" indent="-457200">
              <a:buFont typeface="+mj-lt"/>
              <a:buAutoNum type="arabicPeriod"/>
            </a:pPr>
            <a:r>
              <a:rPr lang="sr-Latn-RS" sz="2400" dirty="0"/>
              <a:t>RxJS u Angularu</a:t>
            </a:r>
            <a:endParaRPr lang="en-US" sz="2400" dirty="0"/>
          </a:p>
          <a:p>
            <a:pPr marL="494100" lvl="0" indent="-457200">
              <a:buFont typeface="+mj-lt"/>
              <a:buAutoNum type="arabicPeriod"/>
            </a:pPr>
            <a:r>
              <a:rPr lang="sr-Latn-RS" sz="2400" dirty="0"/>
              <a:t>Angular Signals</a:t>
            </a:r>
            <a:endParaRPr lang="en-US" sz="2400" dirty="0"/>
          </a:p>
          <a:p>
            <a:pPr marL="494100" lvl="0" indent="-457200">
              <a:buFont typeface="+mj-lt"/>
              <a:buAutoNum type="arabicPeriod"/>
            </a:pPr>
            <a:r>
              <a:rPr lang="sr-Latn-RS" sz="2400" dirty="0"/>
              <a:t>Poređenje RxJS-a i </a:t>
            </a:r>
            <a:r>
              <a:rPr lang="en-US" sz="2400" dirty="0"/>
              <a:t>Angular Signals</a:t>
            </a:r>
          </a:p>
          <a:p>
            <a:pPr marL="494100" lvl="0" indent="-457200">
              <a:buFont typeface="+mj-lt"/>
              <a:buAutoNum type="arabicPeriod"/>
            </a:pPr>
            <a:r>
              <a:rPr lang="sr-Latn-RS" sz="2400" dirty="0"/>
              <a:t>Pokretanje Shopping Cart aplikacije</a:t>
            </a:r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220235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408E5-EF32-2EBE-1E78-EB13B1916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r-Latn-RS" sz="3600" dirty="0"/>
              <a:t>Reaktivno programiranje</a:t>
            </a:r>
            <a:r>
              <a:rPr lang="en-US" sz="3600" dirty="0"/>
              <a:t> u </a:t>
            </a:r>
            <a:r>
              <a:rPr lang="en-US" sz="3600" dirty="0" err="1"/>
              <a:t>Angularu</a:t>
            </a:r>
            <a:endParaRPr lang="en-US" sz="36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10A7ED5-BCD3-14D3-6978-C86526E4F65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47120" y="1910847"/>
            <a:ext cx="10353762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285750" indent="-28575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UI je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uvek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sinhronizovan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stanjem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aplikacije</a:t>
            </a:r>
            <a:endParaRPr lang="en-US" altLang="en-US" sz="1800" dirty="0">
              <a:ln>
                <a:noFill/>
              </a:ln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285750" indent="-28575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Reagovanje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:</a:t>
            </a:r>
          </a:p>
          <a:p>
            <a:pPr marL="285750" indent="-28575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6628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</a:pP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korisničke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interakcije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6628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</a:pP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asinhrone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operacije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6628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interne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promene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stanja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377100" lvl="1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kumimoji="0" lang="en-US" altLang="en-US" sz="1600" b="0" i="0" u="none" strike="noStrike" cap="none" normalizeH="0" baseline="0" dirty="0">
              <a:ln>
                <a:noFill/>
              </a:ln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377100" lvl="1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Automatsko</a:t>
            </a:r>
            <a:r>
              <a:rPr lang="en-US" alt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alt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ažuriranje</a:t>
            </a:r>
            <a:r>
              <a:rPr lang="en-US" alt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alt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prikaza</a:t>
            </a:r>
            <a:r>
              <a:rPr lang="en-US" alt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alt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na</a:t>
            </a:r>
            <a:r>
              <a:rPr lang="en-US" alt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alt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promene</a:t>
            </a:r>
            <a:r>
              <a:rPr lang="en-US" alt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alt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podataka</a:t>
            </a:r>
            <a:endParaRPr lang="en-US" alt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377100" lvl="1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7609650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D5610-6381-8BC4-CCC0-AB91E2F2B3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effectLst/>
              </a:rPr>
              <a:t>RxJS</a:t>
            </a:r>
            <a:r>
              <a:rPr lang="en-US" dirty="0">
                <a:effectLst/>
              </a:rPr>
              <a:t> (Reactive Extensions for JavaScript)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0FD1D5-89DB-3F8B-A2A8-A383A9C69F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1809750"/>
            <a:ext cx="9720073" cy="4499610"/>
          </a:xfrm>
        </p:spPr>
        <p:txBody>
          <a:bodyPr>
            <a:normAutofit/>
          </a:bodyPr>
          <a:lstStyle/>
          <a:p>
            <a:r>
              <a:rPr lang="en-US" dirty="0"/>
              <a:t>Rad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asinhronim</a:t>
            </a:r>
            <a:r>
              <a:rPr lang="en-US" dirty="0"/>
              <a:t> </a:t>
            </a:r>
            <a:r>
              <a:rPr lang="en-US" dirty="0" err="1"/>
              <a:t>tokovima</a:t>
            </a:r>
            <a:r>
              <a:rPr lang="en-US" dirty="0"/>
              <a:t> </a:t>
            </a:r>
            <a:r>
              <a:rPr lang="en-US" dirty="0" err="1"/>
              <a:t>podataka</a:t>
            </a:r>
            <a:endParaRPr lang="en-US" dirty="0"/>
          </a:p>
          <a:p>
            <a:r>
              <a:rPr lang="en-US" dirty="0"/>
              <a:t>Observable – </a:t>
            </a:r>
            <a:r>
              <a:rPr lang="en-US" dirty="0" err="1"/>
              <a:t>tok</a:t>
            </a:r>
            <a:r>
              <a:rPr lang="en-US" dirty="0"/>
              <a:t> </a:t>
            </a:r>
            <a:r>
              <a:rPr lang="en-US" dirty="0" err="1"/>
              <a:t>vrednosti</a:t>
            </a:r>
            <a:r>
              <a:rPr lang="en-US" dirty="0"/>
              <a:t> </a:t>
            </a:r>
            <a:r>
              <a:rPr lang="en-US" dirty="0" err="1"/>
              <a:t>koje</a:t>
            </a:r>
            <a:r>
              <a:rPr lang="en-US" dirty="0"/>
              <a:t> se </a:t>
            </a:r>
            <a:r>
              <a:rPr lang="en-US" dirty="0" err="1"/>
              <a:t>emituju</a:t>
            </a:r>
            <a:r>
              <a:rPr lang="en-US" dirty="0"/>
              <a:t> </a:t>
            </a:r>
            <a:r>
              <a:rPr lang="en-US" dirty="0" err="1"/>
              <a:t>tokom</a:t>
            </a:r>
            <a:r>
              <a:rPr lang="en-US" dirty="0"/>
              <a:t> </a:t>
            </a:r>
            <a:r>
              <a:rPr lang="en-US" dirty="0" err="1"/>
              <a:t>vremena</a:t>
            </a:r>
            <a:endParaRPr lang="en-US" dirty="0"/>
          </a:p>
          <a:p>
            <a:r>
              <a:rPr lang="en-US" sz="1600" dirty="0"/>
              <a:t>Time</a:t>
            </a:r>
            <a:r>
              <a:rPr lang="en-US" dirty="0"/>
              <a:t> </a:t>
            </a:r>
          </a:p>
          <a:p>
            <a:r>
              <a:rPr lang="en-US" sz="1600" dirty="0"/>
              <a:t>Observable:</a:t>
            </a:r>
          </a:p>
          <a:p>
            <a:pPr marL="1225296" lvl="8" indent="0">
              <a:buNone/>
            </a:pPr>
            <a:r>
              <a:rPr lang="en-US" dirty="0"/>
              <a:t>v1	v2		v3          complete</a:t>
            </a:r>
          </a:p>
          <a:p>
            <a:r>
              <a:rPr lang="en-US" dirty="0"/>
              <a:t>HTTP </a:t>
            </a:r>
            <a:r>
              <a:rPr lang="en-US" dirty="0" err="1"/>
              <a:t>zahtevi</a:t>
            </a:r>
            <a:endParaRPr lang="en-US" dirty="0"/>
          </a:p>
          <a:p>
            <a:r>
              <a:rPr lang="en-US" dirty="0" err="1"/>
              <a:t>Korisni</a:t>
            </a:r>
            <a:r>
              <a:rPr lang="sr-Latn-RS" dirty="0"/>
              <a:t>čke interakcije</a:t>
            </a:r>
            <a:r>
              <a:rPr lang="en-US" dirty="0"/>
              <a:t> (click, scroll, mouse move)</a:t>
            </a:r>
          </a:p>
          <a:p>
            <a:r>
              <a:rPr lang="sr-Latn-RS" dirty="0"/>
              <a:t>R</a:t>
            </a:r>
            <a:r>
              <a:rPr lang="en-US" dirty="0" err="1"/>
              <a:t>eal</a:t>
            </a:r>
            <a:r>
              <a:rPr lang="en-US" dirty="0"/>
              <a:t>-time </a:t>
            </a:r>
            <a:r>
              <a:rPr lang="en-US" dirty="0" err="1"/>
              <a:t>podaci</a:t>
            </a:r>
            <a:r>
              <a:rPr lang="sr-Latn-RS" dirty="0"/>
              <a:t> (</a:t>
            </a:r>
            <a:r>
              <a:rPr lang="en-US" dirty="0" err="1"/>
              <a:t>Timeri</a:t>
            </a:r>
            <a:r>
              <a:rPr lang="en-US" dirty="0"/>
              <a:t>, </a:t>
            </a:r>
            <a:r>
              <a:rPr lang="en-US" dirty="0" err="1"/>
              <a:t>intervali</a:t>
            </a:r>
            <a:r>
              <a:rPr lang="en-US" dirty="0"/>
              <a:t>, WebSocket</a:t>
            </a:r>
            <a:r>
              <a:rPr lang="sr-Latn-RS" dirty="0"/>
              <a:t>)</a:t>
            </a:r>
            <a:endParaRPr lang="en-US" dirty="0"/>
          </a:p>
          <a:p>
            <a:r>
              <a:rPr lang="en-US" dirty="0" err="1"/>
              <a:t>Kompleksne</a:t>
            </a:r>
            <a:r>
              <a:rPr lang="en-US" dirty="0"/>
              <a:t> </a:t>
            </a:r>
            <a:r>
              <a:rPr lang="en-US" dirty="0" err="1"/>
              <a:t>asinhrone</a:t>
            </a:r>
            <a:r>
              <a:rPr lang="en-US" dirty="0"/>
              <a:t> </a:t>
            </a:r>
            <a:r>
              <a:rPr lang="en-US" dirty="0" err="1"/>
              <a:t>tranformacije</a:t>
            </a:r>
            <a:r>
              <a:rPr lang="en-US" dirty="0"/>
              <a:t> 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730DE6F-4D6F-C261-51A5-AAC41B402ACA}"/>
              </a:ext>
            </a:extLst>
          </p:cNvPr>
          <p:cNvCxnSpPr/>
          <p:nvPr/>
        </p:nvCxnSpPr>
        <p:spPr>
          <a:xfrm>
            <a:off x="1162050" y="3076575"/>
            <a:ext cx="4286250" cy="0"/>
          </a:xfrm>
          <a:prstGeom prst="straightConnector1">
            <a:avLst/>
          </a:prstGeom>
          <a:ln w="158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013FFB-BE2A-4E22-DAB4-A58F05E7641A}"/>
              </a:ext>
            </a:extLst>
          </p:cNvPr>
          <p:cNvCxnSpPr/>
          <p:nvPr/>
        </p:nvCxnSpPr>
        <p:spPr>
          <a:xfrm>
            <a:off x="1600200" y="3000375"/>
            <a:ext cx="33337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068B89D-DC67-4971-C165-F3379761B07D}"/>
              </a:ext>
            </a:extLst>
          </p:cNvPr>
          <p:cNvCxnSpPr/>
          <p:nvPr/>
        </p:nvCxnSpPr>
        <p:spPr>
          <a:xfrm>
            <a:off x="1162050" y="3505200"/>
            <a:ext cx="421005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D24FEC5-40F1-4B16-50EB-7B52D1C2186B}"/>
              </a:ext>
            </a:extLst>
          </p:cNvPr>
          <p:cNvCxnSpPr/>
          <p:nvPr/>
        </p:nvCxnSpPr>
        <p:spPr>
          <a:xfrm>
            <a:off x="5372100" y="3395662"/>
            <a:ext cx="0" cy="238125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4F7A393-2218-C39C-31FD-DBE74BA4699A}"/>
              </a:ext>
            </a:extLst>
          </p:cNvPr>
          <p:cNvCxnSpPr>
            <a:cxnSpLocks/>
          </p:cNvCxnSpPr>
          <p:nvPr/>
        </p:nvCxnSpPr>
        <p:spPr>
          <a:xfrm>
            <a:off x="2305050" y="3429000"/>
            <a:ext cx="0" cy="85725"/>
          </a:xfrm>
          <a:prstGeom prst="line">
            <a:avLst/>
          </a:prstGeom>
          <a:ln w="15875">
            <a:solidFill>
              <a:schemeClr val="tx1"/>
            </a:solidFill>
            <a:round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8526174-1FDC-AD4F-7A8A-84EE786C75E7}"/>
              </a:ext>
            </a:extLst>
          </p:cNvPr>
          <p:cNvCxnSpPr>
            <a:cxnSpLocks/>
          </p:cNvCxnSpPr>
          <p:nvPr/>
        </p:nvCxnSpPr>
        <p:spPr>
          <a:xfrm>
            <a:off x="2971800" y="3429000"/>
            <a:ext cx="0" cy="85725"/>
          </a:xfrm>
          <a:prstGeom prst="line">
            <a:avLst/>
          </a:prstGeom>
          <a:ln w="15875">
            <a:solidFill>
              <a:schemeClr val="tx1"/>
            </a:solidFill>
            <a:round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2D7BF0B-ACD6-5A6B-136F-2DEC578D07BE}"/>
              </a:ext>
            </a:extLst>
          </p:cNvPr>
          <p:cNvCxnSpPr>
            <a:cxnSpLocks/>
          </p:cNvCxnSpPr>
          <p:nvPr/>
        </p:nvCxnSpPr>
        <p:spPr>
          <a:xfrm>
            <a:off x="4800600" y="3419475"/>
            <a:ext cx="0" cy="85725"/>
          </a:xfrm>
          <a:prstGeom prst="line">
            <a:avLst/>
          </a:prstGeom>
          <a:ln w="15875">
            <a:solidFill>
              <a:schemeClr val="tx1"/>
            </a:solidFill>
            <a:round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81635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1F96B-4D3B-5B68-3288-E456173A6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effectLst/>
              </a:rPr>
              <a:t>RxJS</a:t>
            </a:r>
            <a:r>
              <a:rPr lang="en-US" dirty="0">
                <a:effectLst/>
              </a:rPr>
              <a:t> (Reactive Extensions for JavaScript)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B4B969-FE5C-FAEA-C1FB-E4EE984393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6900" indent="0" algn="ctr">
              <a:buNone/>
            </a:pPr>
            <a:r>
              <a:rPr lang="sr-Latn-RS" sz="2800" dirty="0"/>
              <a:t>Šta rade </a:t>
            </a:r>
            <a:r>
              <a:rPr lang="en-US" sz="2800" dirty="0"/>
              <a:t>O</a:t>
            </a:r>
            <a:r>
              <a:rPr lang="sr-Latn-RS" sz="2800" dirty="0"/>
              <a:t>bservables</a:t>
            </a:r>
            <a:r>
              <a:rPr lang="en-US" sz="2800" dirty="0"/>
              <a:t>?</a:t>
            </a:r>
            <a:endParaRPr lang="sr-Latn-RS" sz="2800" dirty="0"/>
          </a:p>
          <a:p>
            <a:pPr marL="36900" indent="0" algn="ctr">
              <a:buNone/>
            </a:pPr>
            <a:r>
              <a:rPr lang="sr-Latn-RS" sz="2800" dirty="0"/>
              <a:t>Ništa</a:t>
            </a:r>
            <a:r>
              <a:rPr lang="en-US" sz="2800" dirty="0"/>
              <a:t>!</a:t>
            </a:r>
          </a:p>
          <a:p>
            <a:endParaRPr lang="en-US" dirty="0"/>
          </a:p>
          <a:p>
            <a:r>
              <a:rPr lang="en-US" dirty="0"/>
              <a:t>Observable ≠ Execution</a:t>
            </a:r>
          </a:p>
          <a:p>
            <a:r>
              <a:rPr lang="en-US" dirty="0"/>
              <a:t>Subscribe = Start (</a:t>
            </a:r>
            <a:r>
              <a:rPr lang="en-US" dirty="0" err="1"/>
              <a:t>aktivira</a:t>
            </a:r>
            <a:r>
              <a:rPr lang="en-US" dirty="0"/>
              <a:t> </a:t>
            </a:r>
            <a:r>
              <a:rPr lang="en-US" dirty="0" err="1"/>
              <a:t>tok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)</a:t>
            </a:r>
            <a:endParaRPr lang="sr-Latn-RS" dirty="0"/>
          </a:p>
          <a:p>
            <a:pPr marL="36900" indent="0">
              <a:buNone/>
            </a:pPr>
            <a:endParaRPr lang="en-US" dirty="0"/>
          </a:p>
          <a:p>
            <a:pPr marL="3690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65887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4027D-64E5-CD23-7E0F-4133E85B3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RxJS</a:t>
            </a:r>
            <a:r>
              <a:rPr lang="en-US" dirty="0"/>
              <a:t> (Reactive Extensions for JavaScript)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903F74A-F8A7-31F9-E0AB-D98DA06ECA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4128" y="2470032"/>
            <a:ext cx="4496427" cy="14289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14E8C54-7322-5C4A-31D6-B46F54C672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8667" y="2470032"/>
            <a:ext cx="4715533" cy="142894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E5581ED-BF62-0EE8-1F6C-F0019A0F0E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8667" y="4343343"/>
            <a:ext cx="1895740" cy="81926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B9E9C97-D98B-69D5-6DE4-711B1AC9AC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" y="4343343"/>
            <a:ext cx="1971950" cy="1000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76661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2A283-9F34-D7B6-26AA-CCE1251C1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effectLst/>
              </a:rPr>
              <a:t>RxJS</a:t>
            </a:r>
            <a:r>
              <a:rPr lang="en-US" dirty="0">
                <a:effectLst/>
              </a:rPr>
              <a:t> (Reactive Extensions for JavaScript)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6346AA-862E-437B-683E-6DD7D6FFE9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6900" indent="0">
              <a:buNone/>
            </a:pPr>
            <a:r>
              <a:rPr lang="en-US" dirty="0"/>
              <a:t>Observable notifications</a:t>
            </a:r>
            <a:endParaRPr lang="sr-Latn-RS" dirty="0"/>
          </a:p>
          <a:p>
            <a:pPr marL="36900" indent="0">
              <a:buNone/>
            </a:pPr>
            <a:endParaRPr lang="sr-Latn-RS" dirty="0"/>
          </a:p>
          <a:p>
            <a:pPr lvl="1"/>
            <a:r>
              <a:rPr lang="sr-Latn-RS" dirty="0"/>
              <a:t>next – nova vrednost</a:t>
            </a:r>
          </a:p>
          <a:p>
            <a:pPr lvl="1"/>
            <a:r>
              <a:rPr lang="sr-Latn-RS" dirty="0"/>
              <a:t>error – tok se prekida</a:t>
            </a:r>
          </a:p>
          <a:p>
            <a:pPr lvl="1"/>
            <a:r>
              <a:rPr lang="sr-Latn-RS" dirty="0"/>
              <a:t>complete – kraj toka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2951D3-5FE7-29E3-3792-FE4101DAFC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4626" y="2724201"/>
            <a:ext cx="5353797" cy="60968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7899842-ACD8-C538-FF07-F5EC67940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4626" y="4850046"/>
            <a:ext cx="2991267" cy="7240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AF86447-73C2-E355-48A1-B969DEAE7B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4626" y="2301186"/>
            <a:ext cx="4258269" cy="38105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967FAE8-5219-122D-88B7-3CCB310583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05099" y="3406962"/>
            <a:ext cx="4267796" cy="943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39034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87C0F8-F6E9-7F3A-CB1A-E69222178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effectLst/>
              </a:rPr>
              <a:t>RxJS</a:t>
            </a:r>
            <a:r>
              <a:rPr lang="en-US" dirty="0">
                <a:effectLst/>
              </a:rPr>
              <a:t> (Reactive Extensions for JavaScript)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82E800-7E5C-ED77-AE21-06A1ED8FAB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1885951"/>
            <a:ext cx="9720073" cy="4423410"/>
          </a:xfrm>
        </p:spPr>
        <p:txBody>
          <a:bodyPr/>
          <a:lstStyle/>
          <a:p>
            <a:r>
              <a:rPr lang="en-US" dirty="0"/>
              <a:t>Ru</a:t>
            </a:r>
            <a:r>
              <a:rPr lang="sr-Latn-RS" dirty="0"/>
              <a:t>č</a:t>
            </a:r>
            <a:r>
              <a:rPr lang="en-US" dirty="0"/>
              <a:t>no </a:t>
            </a:r>
            <a:r>
              <a:rPr lang="en-US" dirty="0" err="1"/>
              <a:t>upravljanje</a:t>
            </a:r>
            <a:r>
              <a:rPr lang="en-US" dirty="0"/>
              <a:t> </a:t>
            </a:r>
            <a:r>
              <a:rPr lang="en-US" dirty="0" err="1"/>
              <a:t>pretplatama</a:t>
            </a:r>
            <a:r>
              <a:rPr lang="sr-Latn-RS" dirty="0"/>
              <a:t> </a:t>
            </a:r>
            <a:br>
              <a:rPr lang="en-US" dirty="0"/>
            </a:br>
            <a:endParaRPr lang="sr-Latn-R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059F3C1-7233-A52E-2C9F-E6F183A113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103" y="3729254"/>
            <a:ext cx="6706536" cy="25435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DC0EC7A-E794-B509-E8EB-A16810B81F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5103" y="2419273"/>
            <a:ext cx="4477375" cy="1105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87616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740C1-A4EC-A093-F1CC-23104A850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effectLst/>
              </a:rPr>
              <a:t>RxJS</a:t>
            </a:r>
            <a:r>
              <a:rPr lang="en-US" dirty="0">
                <a:effectLst/>
              </a:rPr>
              <a:t> (Reactive Extensions for JavaScript)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D683E4-1FED-B7B2-5D4B-2E3B51FEA3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r-Latn-RS" dirty="0">
                <a:effectLst/>
              </a:rPr>
              <a:t>Bogat skup operatora </a:t>
            </a:r>
            <a:r>
              <a:rPr lang="en-GB" dirty="0">
                <a:effectLst/>
              </a:rPr>
              <a:t>map, filter, </a:t>
            </a:r>
            <a:r>
              <a:rPr lang="en-GB" dirty="0" err="1">
                <a:effectLst/>
              </a:rPr>
              <a:t>switchMap</a:t>
            </a:r>
            <a:r>
              <a:rPr lang="en-GB" dirty="0">
                <a:effectLst/>
              </a:rPr>
              <a:t>, </a:t>
            </a:r>
            <a:r>
              <a:rPr lang="en-GB" dirty="0" err="1">
                <a:effectLst/>
              </a:rPr>
              <a:t>debounceTime</a:t>
            </a:r>
            <a:r>
              <a:rPr lang="en-GB" dirty="0">
                <a:effectLst/>
              </a:rPr>
              <a:t> </a:t>
            </a:r>
            <a:r>
              <a:rPr lang="en-GB" dirty="0" err="1">
                <a:effectLst/>
              </a:rPr>
              <a:t>i</a:t>
            </a:r>
            <a:r>
              <a:rPr lang="en-GB" dirty="0">
                <a:effectLst/>
              </a:rPr>
              <a:t> </a:t>
            </a:r>
            <a:r>
              <a:rPr lang="en-GB" dirty="0" err="1">
                <a:effectLst/>
              </a:rPr>
              <a:t>combineLatest</a:t>
            </a:r>
            <a:r>
              <a:rPr lang="sr-Latn-RS" dirty="0">
                <a:effectLst/>
              </a:rPr>
              <a:t>...</a:t>
            </a:r>
          </a:p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5DB25F2-4038-0885-BB8E-CBFB766B33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2811573"/>
            <a:ext cx="6868484" cy="1486107"/>
          </a:xfrm>
          <a:prstGeom prst="rect">
            <a:avLst/>
          </a:prstGeom>
        </p:spPr>
      </p:pic>
      <p:pic>
        <p:nvPicPr>
          <p:cNvPr id="4" name="Content Placeholder 11">
            <a:extLst>
              <a:ext uri="{FF2B5EF4-FFF2-40B4-BE49-F238E27FC236}">
                <a16:creationId xmlns:a16="http://schemas.microsoft.com/office/drawing/2014/main" id="{DC9F5447-DA39-0041-EDB5-B8789D211C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4387688"/>
            <a:ext cx="7068536" cy="2314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45520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7A5D2-144F-8264-D0E0-85C8CC643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Angular Signals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49908-9B92-7624-7ADF-3EA473ED2E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2076450"/>
            <a:ext cx="10353762" cy="4333875"/>
          </a:xfrm>
        </p:spPr>
        <p:txBody>
          <a:bodyPr>
            <a:normAutofit/>
          </a:bodyPr>
          <a:lstStyle/>
          <a:p>
            <a:r>
              <a:rPr lang="sr-Latn-RS" dirty="0"/>
              <a:t>Angular V&gt;15</a:t>
            </a:r>
            <a:endParaRPr lang="en-US" dirty="0"/>
          </a:p>
          <a:p>
            <a:r>
              <a:rPr lang="en-US" dirty="0" err="1"/>
              <a:t>Jednostavnije</a:t>
            </a:r>
            <a:r>
              <a:rPr lang="en-US" dirty="0"/>
              <a:t> I </a:t>
            </a:r>
            <a:r>
              <a:rPr lang="en-US" dirty="0" err="1"/>
              <a:t>preciznije</a:t>
            </a:r>
            <a:r>
              <a:rPr lang="en-US" dirty="0"/>
              <a:t> </a:t>
            </a:r>
            <a:r>
              <a:rPr lang="en-US" dirty="0" err="1"/>
              <a:t>upravljanje</a:t>
            </a:r>
            <a:r>
              <a:rPr lang="en-US" dirty="0"/>
              <a:t> </a:t>
            </a:r>
            <a:r>
              <a:rPr lang="en-US" dirty="0" err="1"/>
              <a:t>stanjem</a:t>
            </a:r>
            <a:r>
              <a:rPr lang="en-US" dirty="0"/>
              <a:t> </a:t>
            </a:r>
            <a:r>
              <a:rPr lang="en-US" dirty="0" err="1"/>
              <a:t>aplikacije</a:t>
            </a:r>
            <a:endParaRPr lang="sr-Latn-RS" dirty="0"/>
          </a:p>
          <a:p>
            <a:r>
              <a:rPr lang="sr-Latn-RS" dirty="0"/>
              <a:t>Reaktivni kontejner za vrednost</a:t>
            </a:r>
          </a:p>
          <a:p>
            <a:endParaRPr lang="sr-Latn-RS" dirty="0"/>
          </a:p>
          <a:p>
            <a:endParaRPr lang="sr-Latn-RS" dirty="0"/>
          </a:p>
          <a:p>
            <a:r>
              <a:rPr lang="sr-Latn-RS" dirty="0"/>
              <a:t>Vrednost se čita pozivom allProducts(), </a:t>
            </a:r>
            <a:r>
              <a:rPr lang="en-US" dirty="0"/>
              <a:t>product</a:t>
            </a:r>
            <a:r>
              <a:rPr lang="sr-Latn-RS" dirty="0"/>
              <a:t>(), searchPattern()</a:t>
            </a:r>
            <a:r>
              <a:rPr lang="en-US" dirty="0"/>
              <a:t>, …</a:t>
            </a:r>
            <a:endParaRPr lang="sr-Latn-RS" dirty="0"/>
          </a:p>
          <a:p>
            <a:pPr marL="36900" indent="0">
              <a:buNone/>
            </a:pPr>
            <a:r>
              <a:rPr lang="sr-Latn-RS" dirty="0"/>
              <a:t>	</a:t>
            </a:r>
          </a:p>
          <a:p>
            <a:endParaRPr lang="sr-Latn-RS" dirty="0"/>
          </a:p>
          <a:p>
            <a:endParaRPr lang="sr-Latn-RS" dirty="0"/>
          </a:p>
          <a:p>
            <a:pPr marL="36900" indent="0">
              <a:buNone/>
            </a:pPr>
            <a:endParaRPr lang="sr-Latn-R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0B55049-FE99-97D7-EB16-B254F47F4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4999180"/>
            <a:ext cx="4363059" cy="105742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56BC3F-676F-5E8B-0BC4-6B1BDE0D5F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3501034"/>
            <a:ext cx="5191850" cy="781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7753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B5EBD4B-6BAD-6D22-DCFF-33A1C3A7FD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613" y="813207"/>
            <a:ext cx="10353762" cy="970450"/>
          </a:xfrm>
        </p:spPr>
        <p:txBody>
          <a:bodyPr/>
          <a:lstStyle/>
          <a:p>
            <a:r>
              <a:rPr lang="sr-Latn-RS" dirty="0"/>
              <a:t>Angular Signals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1E340F0-DC9B-BCA2-E3BE-10B2E6E6F2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7450" y="1820659"/>
            <a:ext cx="3300984" cy="764782"/>
          </a:xfrm>
        </p:spPr>
        <p:txBody>
          <a:bodyPr/>
          <a:lstStyle/>
          <a:p>
            <a:r>
              <a:rPr lang="sr-Latn-RS" dirty="0"/>
              <a:t>Writable 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0925CDE-D553-28B4-7EC3-58DE8DDA8C89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607450" y="2695725"/>
            <a:ext cx="2826503" cy="302308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761CAF2-A07D-9ABB-252A-CDA9F70349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440184" y="1893940"/>
            <a:ext cx="3300984" cy="764783"/>
          </a:xfrm>
        </p:spPr>
        <p:txBody>
          <a:bodyPr/>
          <a:lstStyle/>
          <a:p>
            <a:r>
              <a:rPr lang="sr-Latn-RS" dirty="0"/>
              <a:t>Computed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DF617E5-1E95-35AF-5726-382BCA50D0DA}"/>
              </a:ext>
            </a:extLst>
          </p:cNvPr>
          <p:cNvSpPr>
            <a:spLocks noGrp="1"/>
          </p:cNvSpPr>
          <p:nvPr>
            <p:ph type="body" sz="half" idx="16"/>
          </p:nvPr>
        </p:nvSpPr>
        <p:spPr>
          <a:xfrm>
            <a:off x="3599586" y="2695725"/>
            <a:ext cx="5158463" cy="302308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16F040-C623-1AEA-169F-EB8F810047C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92755" y="1822432"/>
            <a:ext cx="3300984" cy="764782"/>
          </a:xfrm>
        </p:spPr>
        <p:txBody>
          <a:bodyPr/>
          <a:lstStyle/>
          <a:p>
            <a:r>
              <a:rPr lang="sr-Latn-RS" dirty="0"/>
              <a:t>Effect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A6BA031-D131-327B-DDEF-F7145A138ECA}"/>
              </a:ext>
            </a:extLst>
          </p:cNvPr>
          <p:cNvSpPr>
            <a:spLocks noGrp="1"/>
          </p:cNvSpPr>
          <p:nvPr>
            <p:ph type="body" sz="half" idx="17"/>
          </p:nvPr>
        </p:nvSpPr>
        <p:spPr>
          <a:xfrm>
            <a:off x="8995272" y="2797448"/>
            <a:ext cx="2387103" cy="3023089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C36C6E0-33DD-7DE5-3BDA-0255EDF2B6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272" y="3301274"/>
            <a:ext cx="2695951" cy="120984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2DDA1D0-5346-5A0A-A347-C9F24041AC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0050" y="3274569"/>
            <a:ext cx="5077534" cy="220058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410C791-E88D-47DD-CF69-598A66616A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896" y="3274569"/>
            <a:ext cx="2734057" cy="17147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F182CAF-C958-2F28-45E5-E0E0FEB2DD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896" y="3668038"/>
            <a:ext cx="2591162" cy="238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6513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A2D53-A079-ECE7-7426-9E79B8E64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Angular Signals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D1C8AE-7926-4149-87BB-BD760390C0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7" y="1866900"/>
            <a:ext cx="9720073" cy="4023360"/>
          </a:xfrm>
        </p:spPr>
        <p:txBody>
          <a:bodyPr/>
          <a:lstStyle/>
          <a:p>
            <a:r>
              <a:rPr lang="sr-Latn-RS" sz="2400" dirty="0"/>
              <a:t>Writable signal</a:t>
            </a:r>
          </a:p>
          <a:p>
            <a:r>
              <a:rPr lang="sr-Latn-RS" dirty="0"/>
              <a:t>Vrednost se menja pomoću: </a:t>
            </a:r>
          </a:p>
          <a:p>
            <a:pPr marL="450000" lvl="1" indent="0">
              <a:buNone/>
            </a:pPr>
            <a:r>
              <a:rPr lang="sr-Latn-RS" dirty="0"/>
              <a:t>										set(new value)	</a:t>
            </a:r>
            <a:r>
              <a:rPr lang="en-US" dirty="0"/>
              <a:t>			</a:t>
            </a:r>
            <a:r>
              <a:rPr lang="sr-Latn-RS" dirty="0"/>
              <a:t>update(fn)		</a:t>
            </a:r>
          </a:p>
          <a:p>
            <a:pPr lvl="1"/>
            <a:endParaRPr lang="sr-Latn-RS" dirty="0"/>
          </a:p>
          <a:p>
            <a:pPr lvl="1"/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30CCC21-0C9F-9784-93E2-87D23006A2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1338" y="3581688"/>
            <a:ext cx="3572374" cy="203863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8EC96EE-8F97-3BE8-7B61-16D33C42EE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5399" y="3581688"/>
            <a:ext cx="5715798" cy="2896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6164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E1014-6567-93DA-680E-5EBA659FE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RxJS i Angular Signals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A02383-A078-9787-7040-514731D942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8953" y="1704975"/>
            <a:ext cx="6655371" cy="25241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7F46DF8-CC1E-9D84-BAFC-010526E34C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1704974"/>
            <a:ext cx="4283788" cy="1057275"/>
          </a:xfrm>
          <a:prstGeom prst="rect">
            <a:avLst/>
          </a:prstGeom>
        </p:spPr>
      </p:pic>
      <p:pic>
        <p:nvPicPr>
          <p:cNvPr id="5" name="Content Placeholder 11">
            <a:extLst>
              <a:ext uri="{FF2B5EF4-FFF2-40B4-BE49-F238E27FC236}">
                <a16:creationId xmlns:a16="http://schemas.microsoft.com/office/drawing/2014/main" id="{5EA13FAC-99F9-2642-BC2E-0E15C0E31EA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024128" y="4407001"/>
            <a:ext cx="6766392" cy="221594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26304E7-6408-2D38-677A-61D7F54A628D}"/>
              </a:ext>
            </a:extLst>
          </p:cNvPr>
          <p:cNvSpPr txBox="1"/>
          <p:nvPr/>
        </p:nvSpPr>
        <p:spPr>
          <a:xfrm>
            <a:off x="952500" y="3105834"/>
            <a:ext cx="27241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toSignal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toObservable</a:t>
            </a:r>
            <a:r>
              <a:rPr lang="en-US" dirty="0"/>
              <a:t>() </a:t>
            </a:r>
          </a:p>
        </p:txBody>
      </p:sp>
    </p:spTree>
    <p:extLst>
      <p:ext uri="{BB962C8B-B14F-4D97-AF65-F5344CB8AC3E}">
        <p14:creationId xmlns:p14="http://schemas.microsoft.com/office/powerpoint/2010/main" val="42797473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D4FD635-0872-A4C8-1C39-51BA540841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550" y="54503"/>
            <a:ext cx="9587380" cy="6736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83050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4F07A-A2C2-6B50-3992-8C1C9ED82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290" y="865613"/>
            <a:ext cx="10353762" cy="807463"/>
          </a:xfrm>
        </p:spPr>
        <p:txBody>
          <a:bodyPr>
            <a:normAutofit/>
          </a:bodyPr>
          <a:lstStyle/>
          <a:p>
            <a:r>
              <a:rPr lang="sr-Latn-RS" dirty="0"/>
              <a:t>RxJS/Angular Signals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B4B9EE-4F6F-FFCE-D72B-3BC2875623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46013" y="1629309"/>
            <a:ext cx="4764764" cy="451685"/>
          </a:xfrm>
        </p:spPr>
        <p:txBody>
          <a:bodyPr>
            <a:normAutofit fontScale="70000" lnSpcReduction="20000"/>
          </a:bodyPr>
          <a:lstStyle/>
          <a:p>
            <a:r>
              <a:rPr lang="en-US" dirty="0" err="1"/>
              <a:t>RxJS</a:t>
            </a:r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0753276C-962B-6296-ACC1-570DA9F4598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919119" y="2080994"/>
            <a:ext cx="4764087" cy="1454098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B9BF101-22D7-DC8C-571C-2B507BA120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40171" y="1716848"/>
            <a:ext cx="4779582" cy="276605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Angular Signals</a:t>
            </a:r>
          </a:p>
        </p:txBody>
      </p:sp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D8F89704-C21E-D6CD-354C-4A60FD42DA8B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40172" y="2080996"/>
            <a:ext cx="4445758" cy="185700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5A4A8725-B494-0EF2-3191-04FEA65A14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0171" y="3937998"/>
            <a:ext cx="3687065" cy="179029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18F9058D-4796-465C-7671-46EC273238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2684" y="4185063"/>
            <a:ext cx="2810199" cy="50583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C83FC6-0DED-0A36-E546-628C4604CC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760" y="3762397"/>
            <a:ext cx="4722446" cy="18570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A0F582F-E1FD-21AC-50AC-33B3C00B3E9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28395" y="3762397"/>
            <a:ext cx="2491137" cy="557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33470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D8CAAB-881A-807F-EB55-F2C0A1AAF087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585787" y="704850"/>
            <a:ext cx="9720263" cy="4022725"/>
          </a:xfrm>
        </p:spPr>
        <p:txBody>
          <a:bodyPr/>
          <a:lstStyle/>
          <a:p>
            <a:r>
              <a:rPr lang="sr-Latn-RS" dirty="0"/>
              <a:t>Angular Signals</a:t>
            </a:r>
            <a:r>
              <a:rPr lang="en-US" dirty="0"/>
              <a:t> ne </a:t>
            </a:r>
            <a:r>
              <a:rPr lang="en-US" dirty="0" err="1"/>
              <a:t>zamenjuju</a:t>
            </a:r>
            <a:r>
              <a:rPr lang="en-US" dirty="0"/>
              <a:t> </a:t>
            </a:r>
            <a:r>
              <a:rPr lang="en-US" dirty="0" err="1"/>
              <a:t>RxJS</a:t>
            </a:r>
            <a:r>
              <a:rPr lang="en-US" dirty="0"/>
              <a:t> – oni ga </a:t>
            </a:r>
            <a:r>
              <a:rPr lang="en-US" dirty="0" err="1"/>
              <a:t>dopunjuju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RxJS</a:t>
            </a:r>
            <a:r>
              <a:rPr lang="en-US" dirty="0"/>
              <a:t> </a:t>
            </a:r>
            <a:r>
              <a:rPr lang="sr-Latn-RS" dirty="0"/>
              <a:t>       </a:t>
            </a:r>
            <a:r>
              <a:rPr lang="en-US" dirty="0" err="1"/>
              <a:t>asinhroni</a:t>
            </a:r>
            <a:r>
              <a:rPr lang="en-US" dirty="0"/>
              <a:t> </a:t>
            </a:r>
            <a:r>
              <a:rPr lang="sr-Latn-RS" dirty="0"/>
              <a:t>tokovi i događaji</a:t>
            </a:r>
          </a:p>
          <a:p>
            <a:r>
              <a:rPr lang="sr-Latn-RS" dirty="0"/>
              <a:t>Signals      stanje i UI logika</a:t>
            </a:r>
          </a:p>
          <a:p>
            <a:r>
              <a:rPr lang="sr-Latn-RS" dirty="0"/>
              <a:t>Interoperabilnost       najbolje iz oba pristupa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2A27A93-58AA-5E9B-B1FD-141389CB6B18}"/>
              </a:ext>
            </a:extLst>
          </p:cNvPr>
          <p:cNvCxnSpPr>
            <a:cxnSpLocks/>
          </p:cNvCxnSpPr>
          <p:nvPr/>
        </p:nvCxnSpPr>
        <p:spPr>
          <a:xfrm>
            <a:off x="1371600" y="1866900"/>
            <a:ext cx="2952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B68B9BF-D705-91CE-1D8D-63C47833BBAF}"/>
              </a:ext>
            </a:extLst>
          </p:cNvPr>
          <p:cNvCxnSpPr>
            <a:cxnSpLocks/>
          </p:cNvCxnSpPr>
          <p:nvPr/>
        </p:nvCxnSpPr>
        <p:spPr>
          <a:xfrm>
            <a:off x="1562100" y="2362200"/>
            <a:ext cx="2952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3D8074D-FEF7-558C-B45D-88E9E434ED57}"/>
              </a:ext>
            </a:extLst>
          </p:cNvPr>
          <p:cNvCxnSpPr>
            <a:cxnSpLocks/>
          </p:cNvCxnSpPr>
          <p:nvPr/>
        </p:nvCxnSpPr>
        <p:spPr>
          <a:xfrm>
            <a:off x="2619375" y="2838450"/>
            <a:ext cx="2952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71984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E76CA-C066-0161-61CE-4DA3C63D2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Pokretanje</a:t>
            </a:r>
            <a:r>
              <a:rPr lang="en-US" dirty="0"/>
              <a:t> Shopping cart </a:t>
            </a:r>
            <a:r>
              <a:rPr lang="en-US" dirty="0" err="1"/>
              <a:t>aplikacije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E9421F1-1E9B-435C-68B4-756117CF2E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err="1"/>
              <a:t>Preduslovi</a:t>
            </a:r>
            <a:r>
              <a:rPr lang="en-US" sz="2800" dirty="0"/>
              <a:t>: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      Node.js: </a:t>
            </a:r>
            <a:r>
              <a:rPr lang="en-US" dirty="0">
                <a:hlinkClick r:id="rId2"/>
              </a:rPr>
              <a:t>https://angular.dev/reference/versions</a:t>
            </a:r>
            <a:r>
              <a:rPr lang="en-US" dirty="0"/>
              <a:t> -&gt; https://nodejs.org/en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      Angular CLI (V &gt;= 16)</a:t>
            </a:r>
          </a:p>
          <a:p>
            <a:pPr marL="0" indent="0">
              <a:buNone/>
            </a:pPr>
            <a:r>
              <a:rPr lang="en-US" dirty="0"/>
              <a:t> </a:t>
            </a:r>
            <a:r>
              <a:rPr lang="en-US" dirty="0" err="1"/>
              <a:t>Kloniranje</a:t>
            </a:r>
            <a:r>
              <a:rPr lang="en-US" dirty="0"/>
              <a:t> </a:t>
            </a:r>
            <a:r>
              <a:rPr lang="en-US" dirty="0" err="1"/>
              <a:t>repozitorijuma</a:t>
            </a:r>
            <a:r>
              <a:rPr lang="en-US" dirty="0"/>
              <a:t>: </a:t>
            </a:r>
          </a:p>
          <a:p>
            <a:pPr marL="630936" lvl="1" indent="-457200">
              <a:buFont typeface="+mj-lt"/>
              <a:buAutoNum type="arabicPeriod"/>
            </a:pPr>
            <a:r>
              <a:rPr lang="en-US" dirty="0"/>
              <a:t>git clone </a:t>
            </a:r>
            <a:r>
              <a:rPr lang="en-US" dirty="0">
                <a:hlinkClick r:id="rId3"/>
              </a:rPr>
              <a:t>https://github.com/anitagolubovic/SignalsAndRxJs</a:t>
            </a:r>
            <a:endParaRPr lang="en-US" dirty="0"/>
          </a:p>
          <a:p>
            <a:pPr marL="630936" lvl="1" indent="-457200">
              <a:buFont typeface="+mj-lt"/>
              <a:buAutoNum type="arabicPeriod"/>
            </a:pPr>
            <a:r>
              <a:rPr lang="en-US" dirty="0"/>
              <a:t>cd </a:t>
            </a:r>
            <a:r>
              <a:rPr lang="en-US" dirty="0" err="1"/>
              <a:t>SignalsAndRxJS</a:t>
            </a:r>
            <a:endParaRPr lang="en-US" dirty="0"/>
          </a:p>
          <a:p>
            <a:pPr marL="630936" lvl="1" indent="-457200">
              <a:buFont typeface="+mj-lt"/>
              <a:buAutoNum type="arabicPeriod"/>
            </a:pPr>
            <a:endParaRPr lang="en-US" dirty="0"/>
          </a:p>
          <a:p>
            <a:pPr marL="173736" lvl="1" indent="0">
              <a:buNone/>
            </a:pPr>
            <a:r>
              <a:rPr lang="en-US" dirty="0" err="1"/>
              <a:t>Instaliranje</a:t>
            </a:r>
            <a:r>
              <a:rPr lang="en-US" dirty="0"/>
              <a:t> </a:t>
            </a:r>
            <a:r>
              <a:rPr lang="en-US" dirty="0" err="1"/>
              <a:t>zavisnosti</a:t>
            </a:r>
            <a:r>
              <a:rPr lang="en-US" dirty="0"/>
              <a:t>: </a:t>
            </a:r>
            <a:r>
              <a:rPr lang="en-US" b="1" dirty="0"/>
              <a:t>yarn install, yarn add </a:t>
            </a:r>
            <a:r>
              <a:rPr lang="en-US" b="1" dirty="0" err="1"/>
              <a:t>json</a:t>
            </a:r>
            <a:r>
              <a:rPr lang="en-US" b="1" dirty="0"/>
              <a:t>-server</a:t>
            </a:r>
          </a:p>
          <a:p>
            <a:pPr marL="173736" lvl="1" indent="0">
              <a:buNone/>
            </a:pPr>
            <a:r>
              <a:rPr lang="en-US" dirty="0"/>
              <a:t>JSON Server: </a:t>
            </a:r>
            <a:r>
              <a:rPr lang="en-US" b="1" dirty="0"/>
              <a:t>yarn fake-</a:t>
            </a:r>
            <a:r>
              <a:rPr lang="en-US" b="1" dirty="0" err="1"/>
              <a:t>api</a:t>
            </a:r>
            <a:endParaRPr lang="en-US" b="1" dirty="0"/>
          </a:p>
          <a:p>
            <a:pPr marL="173736" lvl="1" indent="0">
              <a:buNone/>
            </a:pPr>
            <a:r>
              <a:rPr lang="en-US" dirty="0"/>
              <a:t>Angular </a:t>
            </a:r>
            <a:r>
              <a:rPr lang="en-US" dirty="0" err="1"/>
              <a:t>aplikacija</a:t>
            </a:r>
            <a:r>
              <a:rPr lang="en-US" dirty="0"/>
              <a:t>: </a:t>
            </a:r>
            <a:r>
              <a:rPr lang="en-US" b="1" dirty="0"/>
              <a:t>ng serve</a:t>
            </a:r>
          </a:p>
          <a:p>
            <a:r>
              <a:rPr lang="en-US" u="sng" dirty="0">
                <a:hlinkClick r:id="rId4"/>
              </a:rPr>
              <a:t>http://localhost:4200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94080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885E0-8403-07CA-BA43-743A990E6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Shopping cart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CAE88E4-E8A4-7406-1603-8ACD250FD1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584285" y="1731316"/>
            <a:ext cx="2235365" cy="504651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9BB8DB7-6B98-7A5F-A154-EC67E886D82E}"/>
              </a:ext>
            </a:extLst>
          </p:cNvPr>
          <p:cNvSpPr txBox="1"/>
          <p:nvPr/>
        </p:nvSpPr>
        <p:spPr>
          <a:xfrm>
            <a:off x="723900" y="4069905"/>
            <a:ext cx="17445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dirty="0"/>
              <a:t>Sadržaj projekta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68001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7045B-39F7-074A-042D-59D4BBA54AA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838325" y="2495550"/>
            <a:ext cx="10353675" cy="1257300"/>
          </a:xfrm>
        </p:spPr>
        <p:txBody>
          <a:bodyPr/>
          <a:lstStyle/>
          <a:p>
            <a:r>
              <a:rPr lang="sr-Latn-RS" dirty="0"/>
              <a:t>Hvala na pažnji!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799774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410dd7f93c95333ffa1b60ed6adedd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a936d9baba76aa3866493feff160faab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585E981-8C91-4205-A0C3-C991F42B4C9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C4C00F4-06E9-43E3-AD97-88A857CEFA82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64B270AB-C138-415C-897E-3C24487DECF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1089</TotalTime>
  <Words>401</Words>
  <Application>Microsoft Office PowerPoint</Application>
  <PresentationFormat>Widescreen</PresentationFormat>
  <Paragraphs>93</Paragraphs>
  <Slides>19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Arial</vt:lpstr>
      <vt:lpstr>Calibri</vt:lpstr>
      <vt:lpstr>Courier New</vt:lpstr>
      <vt:lpstr>Tw Cen MT</vt:lpstr>
      <vt:lpstr>Tw Cen MT Condensed</vt:lpstr>
      <vt:lpstr>Wingdings 3</vt:lpstr>
      <vt:lpstr>Integral</vt:lpstr>
      <vt:lpstr>RxJS I Angular Signals:  Reaktivna Shopping Cart aplikacija </vt:lpstr>
      <vt:lpstr>Sadržaj:</vt:lpstr>
      <vt:lpstr>Reaktivno programiranje u Angularu</vt:lpstr>
      <vt:lpstr>RxJS (Reactive Extensions for JavaScript)</vt:lpstr>
      <vt:lpstr>RxJS (Reactive Extensions for JavaScript)</vt:lpstr>
      <vt:lpstr>RxJS (Reactive Extensions for JavaScript)</vt:lpstr>
      <vt:lpstr>RxJS (Reactive Extensions for JavaScript)</vt:lpstr>
      <vt:lpstr>RxJS (Reactive Extensions for JavaScript)</vt:lpstr>
      <vt:lpstr>RxJS (Reactive Extensions for JavaScript)</vt:lpstr>
      <vt:lpstr>Angular Signals</vt:lpstr>
      <vt:lpstr>Angular Signals</vt:lpstr>
      <vt:lpstr>Angular Signals</vt:lpstr>
      <vt:lpstr>RxJS i Angular Signals</vt:lpstr>
      <vt:lpstr>PowerPoint Presentation</vt:lpstr>
      <vt:lpstr>RxJS/Angular Signals</vt:lpstr>
      <vt:lpstr>PowerPoint Presentation</vt:lpstr>
      <vt:lpstr>Pokretanje Shopping cart aplikacije</vt:lpstr>
      <vt:lpstr>Shopping cart</vt:lpstr>
      <vt:lpstr>Hvala na pažnji!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Anita Golubovic</dc:creator>
  <cp:lastModifiedBy>Anita Golubovic</cp:lastModifiedBy>
  <cp:revision>47</cp:revision>
  <dcterms:created xsi:type="dcterms:W3CDTF">2026-01-04T15:59:55Z</dcterms:created>
  <dcterms:modified xsi:type="dcterms:W3CDTF">2026-01-08T21:12:01Z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
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4"/>
  </p:sldMasterIdLst>
  <p:notesMasterIdLst>
    <p:notesMasterId r:id="rId24"/>
  </p:notesMasterIdLst>
  <p:sldIdLst>
    <p:sldId id="278" r:id="rId5"/>
    <p:sldId id="279" r:id="rId6"/>
    <p:sldId id="280" r:id="rId7"/>
    <p:sldId id="282" r:id="rId8"/>
    <p:sldId id="290" r:id="rId9"/>
    <p:sldId id="296" r:id="rId10"/>
    <p:sldId id="293" r:id="rId11"/>
    <p:sldId id="291" r:id="rId12"/>
    <p:sldId id="292" r:id="rId13"/>
    <p:sldId id="284" r:id="rId14"/>
    <p:sldId id="294" r:id="rId15"/>
    <p:sldId id="289" r:id="rId16"/>
    <p:sldId id="295" r:id="rId17"/>
    <p:sldId id="286" r:id="rId18"/>
    <p:sldId id="285" r:id="rId19"/>
    <p:sldId id="287" r:id="rId20"/>
    <p:sldId id="297" r:id="rId21"/>
    <p:sldId id="298" r:id="rId22"/>
    <p:sldId id="28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1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8D38747-4367-4BD2-8D51-C97E202738E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55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0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17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0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3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5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69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02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61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3386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321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3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73ED0CC-082F-4160-86E5-0D6041F12778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02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" TargetMode="External"/><Relationship Id="rId2" Type="http://schemas.openxmlformats.org/officeDocument/2006/relationships/hyperlink" Target="https://angular.dev/reference/vers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ocalhost:4200/" TargetMode="External"/><Relationship Id="rId4" Type="http://schemas.openxmlformats.org/officeDocument/2006/relationships/hyperlink" Target="https://github.com/anitagolubovic/SignalsAndRxJ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678" y="2571750"/>
            <a:ext cx="9004641" cy="1714500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/>
              <a:t>RxJS</a:t>
            </a:r>
            <a:r>
              <a:rPr lang="en-US" sz="3200" dirty="0"/>
              <a:t> I Angular Signals: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dirty="0" err="1"/>
              <a:t>Reaktivna</a:t>
            </a:r>
            <a:r>
              <a:rPr lang="en-US" sz="3200" dirty="0"/>
              <a:t> Shopping Cart </a:t>
            </a:r>
            <a:r>
              <a:rPr lang="en-US" sz="3200" dirty="0" err="1"/>
              <a:t>aplikacija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5619" y="539618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Anita </a:t>
            </a:r>
            <a:r>
              <a:rPr lang="sr-Latn-RS" sz="2300" dirty="0"/>
              <a:t>Golubović, </a:t>
            </a:r>
          </a:p>
          <a:p>
            <a:pPr algn="l"/>
            <a:r>
              <a:rPr lang="sr-Latn-RS" sz="2300" dirty="0"/>
              <a:t>broj indeksa: 2095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sr-Latn-RS" sz="4000" dirty="0"/>
              <a:t>Sadržaj: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827699"/>
            <a:ext cx="5074739" cy="4058751"/>
          </a:xfrm>
        </p:spPr>
        <p:txBody>
          <a:bodyPr anchor="t">
            <a:normAutofit/>
          </a:bodyPr>
          <a:lstStyle/>
          <a:p>
            <a:pPr marL="494100" lvl="0" indent="-457200">
              <a:buFont typeface="+mj-lt"/>
              <a:buAutoNum type="arabicPeriod"/>
            </a:pPr>
            <a:r>
              <a:rPr lang="sr-Latn-RS" sz="2400" dirty="0"/>
              <a:t>Reaktivno programiranje</a:t>
            </a:r>
            <a:endParaRPr lang="en-US" sz="2400" dirty="0"/>
          </a:p>
          <a:p>
            <a:pPr marL="494100" lvl="0" indent="-457200">
              <a:buFont typeface="+mj-lt"/>
              <a:buAutoNum type="arabicPeriod"/>
            </a:pPr>
            <a:r>
              <a:rPr lang="sr-Latn-RS" sz="2400" dirty="0"/>
              <a:t>RxJS u Angularu</a:t>
            </a:r>
            <a:endParaRPr lang="en-US" sz="2400" dirty="0"/>
          </a:p>
          <a:p>
            <a:pPr marL="494100" lvl="0" indent="-457200">
              <a:buFont typeface="+mj-lt"/>
              <a:buAutoNum type="arabicPeriod"/>
            </a:pPr>
            <a:r>
              <a:rPr lang="sr-Latn-RS" sz="2400" dirty="0"/>
              <a:t>Angular Signals</a:t>
            </a:r>
            <a:endParaRPr lang="en-US" sz="2400" dirty="0"/>
          </a:p>
          <a:p>
            <a:pPr marL="494100" lvl="0" indent="-457200">
              <a:buFont typeface="+mj-lt"/>
              <a:buAutoNum type="arabicPeriod"/>
            </a:pPr>
            <a:r>
              <a:rPr lang="sr-Latn-RS" sz="2400" dirty="0"/>
              <a:t>Poređenje RxJS-a i </a:t>
            </a:r>
            <a:r>
              <a:rPr lang="en-US" sz="2400" dirty="0"/>
              <a:t>Angular Signals</a:t>
            </a:r>
          </a:p>
          <a:p>
            <a:pPr marL="494100" lvl="0" indent="-457200">
              <a:buFont typeface="+mj-lt"/>
              <a:buAutoNum type="arabicPeriod"/>
            </a:pPr>
            <a:r>
              <a:rPr lang="sr-Latn-RS" sz="2400" dirty="0"/>
              <a:t>Pokretanje Shopping Cart aplikacije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08E5-EF32-2EBE-1E78-EB13B191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/>
              <a:t>Reaktivno programiranje</a:t>
            </a:r>
            <a:r>
              <a:rPr lang="en-US" sz="3600" dirty="0"/>
              <a:t> u </a:t>
            </a:r>
            <a:r>
              <a:rPr lang="en-US" sz="3600" dirty="0" err="1"/>
              <a:t>Angularu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0A7ED5-BCD3-14D3-6978-C86526E4F6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120" y="1910847"/>
            <a:ext cx="103537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UI je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uvek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sinhronizovan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stanjem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aplikacije</a:t>
            </a:r>
            <a:endParaRPr lang="en-US" altLang="en-US" sz="180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Reagovanje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korisničke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interakcije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asinhrone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operacije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stanja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Automatsko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ažuriranje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prikaza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promene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podataka</a:t>
            </a:r>
            <a:endParaRPr lang="en-US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096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5610-6381-8BC4-CCC0-AB91E2F2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RxJS</a:t>
            </a:r>
            <a:r>
              <a:rPr lang="en-US" dirty="0">
                <a:effectLst/>
              </a:rPr>
              <a:t> (Reactive Extensions for JavaScript)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FD1D5-89DB-3F8B-A2A8-A383A9C6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09750"/>
            <a:ext cx="9720073" cy="4499610"/>
          </a:xfrm>
        </p:spPr>
        <p:txBody>
          <a:bodyPr>
            <a:normAutofit/>
          </a:bodyPr>
          <a:lstStyle/>
          <a:p>
            <a:r>
              <a:rPr lang="en-US" dirty="0"/>
              <a:t>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asinhronim</a:t>
            </a:r>
            <a:r>
              <a:rPr lang="en-US" dirty="0"/>
              <a:t> </a:t>
            </a:r>
            <a:r>
              <a:rPr lang="en-US" dirty="0" err="1"/>
              <a:t>tokovima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r>
              <a:rPr lang="en-US" dirty="0"/>
              <a:t>Observable –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emituju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vremena</a:t>
            </a:r>
            <a:endParaRPr lang="en-US" dirty="0"/>
          </a:p>
          <a:p>
            <a:r>
              <a:rPr lang="en-US" sz="1600" dirty="0"/>
              <a:t>Time</a:t>
            </a:r>
            <a:r>
              <a:rPr lang="en-US" dirty="0"/>
              <a:t> </a:t>
            </a:r>
          </a:p>
          <a:p>
            <a:r>
              <a:rPr lang="en-US" sz="1600" dirty="0"/>
              <a:t>Observable:</a:t>
            </a:r>
          </a:p>
          <a:p>
            <a:pPr marL="1225296" lvl="8" indent="0">
              <a:buNone/>
            </a:pPr>
            <a:r>
              <a:rPr lang="en-US" dirty="0"/>
              <a:t>v1	v2		v3          complete</a:t>
            </a:r>
          </a:p>
          <a:p>
            <a:r>
              <a:rPr lang="en-US" dirty="0"/>
              <a:t>HTTP </a:t>
            </a:r>
            <a:r>
              <a:rPr lang="en-US" dirty="0" err="1"/>
              <a:t>zahtevi</a:t>
            </a:r>
            <a:endParaRPr lang="en-US" dirty="0"/>
          </a:p>
          <a:p>
            <a:r>
              <a:rPr lang="en-US" dirty="0" err="1"/>
              <a:t>Korisni</a:t>
            </a:r>
            <a:r>
              <a:rPr lang="sr-Latn-RS" dirty="0"/>
              <a:t>čke interakcije</a:t>
            </a:r>
            <a:r>
              <a:rPr lang="en-US" dirty="0"/>
              <a:t> (click, scroll, mouse move)</a:t>
            </a:r>
          </a:p>
          <a:p>
            <a:r>
              <a:rPr lang="sr-Latn-RS" dirty="0"/>
              <a:t>R</a:t>
            </a:r>
            <a:r>
              <a:rPr lang="en-US" dirty="0" err="1"/>
              <a:t>eal</a:t>
            </a:r>
            <a:r>
              <a:rPr lang="en-US" dirty="0"/>
              <a:t>-time </a:t>
            </a:r>
            <a:r>
              <a:rPr lang="en-US" dirty="0" err="1"/>
              <a:t>podaci</a:t>
            </a:r>
            <a:r>
              <a:rPr lang="sr-Latn-RS" dirty="0"/>
              <a:t> (</a:t>
            </a:r>
            <a:r>
              <a:rPr lang="en-US" dirty="0" err="1"/>
              <a:t>Timeri</a:t>
            </a:r>
            <a:r>
              <a:rPr lang="en-US" dirty="0"/>
              <a:t>, </a:t>
            </a:r>
            <a:r>
              <a:rPr lang="en-US" dirty="0" err="1"/>
              <a:t>intervali</a:t>
            </a:r>
            <a:r>
              <a:rPr lang="en-US" dirty="0"/>
              <a:t>, WebSocket</a:t>
            </a:r>
            <a:r>
              <a:rPr lang="sr-Latn-RS" dirty="0"/>
              <a:t>)</a:t>
            </a:r>
            <a:endParaRPr lang="en-US" dirty="0"/>
          </a:p>
          <a:p>
            <a:r>
              <a:rPr lang="en-US" dirty="0" err="1"/>
              <a:t>Kompleksne</a:t>
            </a:r>
            <a:r>
              <a:rPr lang="en-US" dirty="0"/>
              <a:t> </a:t>
            </a:r>
            <a:r>
              <a:rPr lang="en-US" dirty="0" err="1"/>
              <a:t>asinhrone</a:t>
            </a:r>
            <a:r>
              <a:rPr lang="en-US" dirty="0"/>
              <a:t> </a:t>
            </a:r>
            <a:r>
              <a:rPr lang="en-US" dirty="0" err="1"/>
              <a:t>tranformacije</a:t>
            </a:r>
            <a:r>
              <a:rPr lang="en-US" dirty="0"/>
              <a:t>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30DE6F-4D6F-C261-51A5-AAC41B402ACA}"/>
              </a:ext>
            </a:extLst>
          </p:cNvPr>
          <p:cNvCxnSpPr/>
          <p:nvPr/>
        </p:nvCxnSpPr>
        <p:spPr>
          <a:xfrm>
            <a:off x="1162050" y="3076575"/>
            <a:ext cx="428625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013FFB-BE2A-4E22-DAB4-A58F05E7641A}"/>
              </a:ext>
            </a:extLst>
          </p:cNvPr>
          <p:cNvCxnSpPr/>
          <p:nvPr/>
        </p:nvCxnSpPr>
        <p:spPr>
          <a:xfrm>
            <a:off x="1600200" y="3000375"/>
            <a:ext cx="333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68B89D-DC67-4971-C165-F3379761B07D}"/>
              </a:ext>
            </a:extLst>
          </p:cNvPr>
          <p:cNvCxnSpPr/>
          <p:nvPr/>
        </p:nvCxnSpPr>
        <p:spPr>
          <a:xfrm>
            <a:off x="1162050" y="3505200"/>
            <a:ext cx="421005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24FEC5-40F1-4B16-50EB-7B52D1C2186B}"/>
              </a:ext>
            </a:extLst>
          </p:cNvPr>
          <p:cNvCxnSpPr/>
          <p:nvPr/>
        </p:nvCxnSpPr>
        <p:spPr>
          <a:xfrm>
            <a:off x="5372100" y="3395662"/>
            <a:ext cx="0" cy="23812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F7A393-2218-C39C-31FD-DBE74BA4699A}"/>
              </a:ext>
            </a:extLst>
          </p:cNvPr>
          <p:cNvCxnSpPr>
            <a:cxnSpLocks/>
          </p:cNvCxnSpPr>
          <p:nvPr/>
        </p:nvCxnSpPr>
        <p:spPr>
          <a:xfrm>
            <a:off x="2305050" y="3429000"/>
            <a:ext cx="0" cy="85725"/>
          </a:xfrm>
          <a:prstGeom prst="line">
            <a:avLst/>
          </a:prstGeom>
          <a:ln w="15875">
            <a:solidFill>
              <a:schemeClr val="tx1"/>
            </a:soli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526174-1FDC-AD4F-7A8A-84EE786C75E7}"/>
              </a:ext>
            </a:extLst>
          </p:cNvPr>
          <p:cNvCxnSpPr>
            <a:cxnSpLocks/>
          </p:cNvCxnSpPr>
          <p:nvPr/>
        </p:nvCxnSpPr>
        <p:spPr>
          <a:xfrm>
            <a:off x="2971800" y="3429000"/>
            <a:ext cx="0" cy="85725"/>
          </a:xfrm>
          <a:prstGeom prst="line">
            <a:avLst/>
          </a:prstGeom>
          <a:ln w="15875">
            <a:solidFill>
              <a:schemeClr val="tx1"/>
            </a:soli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D7BF0B-ACD6-5A6B-136F-2DEC578D07BE}"/>
              </a:ext>
            </a:extLst>
          </p:cNvPr>
          <p:cNvCxnSpPr>
            <a:cxnSpLocks/>
          </p:cNvCxnSpPr>
          <p:nvPr/>
        </p:nvCxnSpPr>
        <p:spPr>
          <a:xfrm>
            <a:off x="4800600" y="3419475"/>
            <a:ext cx="0" cy="85725"/>
          </a:xfrm>
          <a:prstGeom prst="line">
            <a:avLst/>
          </a:prstGeom>
          <a:ln w="15875">
            <a:solidFill>
              <a:schemeClr val="tx1"/>
            </a:solidFill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16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F96B-4D3B-5B68-3288-E456173A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RxJS</a:t>
            </a:r>
            <a:r>
              <a:rPr lang="en-US" dirty="0">
                <a:effectLst/>
              </a:rPr>
              <a:t> (Reactive Extensions for JavaScript)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B969-FE5C-FAEA-C1FB-E4EE9843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sr-Latn-RS" sz="2800" dirty="0"/>
              <a:t>Šta rade </a:t>
            </a:r>
            <a:r>
              <a:rPr lang="en-US" sz="2800" dirty="0"/>
              <a:t>O</a:t>
            </a:r>
            <a:r>
              <a:rPr lang="sr-Latn-RS" sz="2800" dirty="0"/>
              <a:t>bservables</a:t>
            </a:r>
            <a:r>
              <a:rPr lang="en-US" sz="2800" dirty="0"/>
              <a:t>?</a:t>
            </a:r>
            <a:endParaRPr lang="sr-Latn-RS" sz="2800" dirty="0"/>
          </a:p>
          <a:p>
            <a:pPr marL="36900" indent="0" algn="ctr">
              <a:buNone/>
            </a:pPr>
            <a:r>
              <a:rPr lang="sr-Latn-RS" sz="2800" dirty="0"/>
              <a:t>Ništa</a:t>
            </a:r>
            <a:r>
              <a:rPr lang="en-US" sz="2800" dirty="0"/>
              <a:t>!</a:t>
            </a:r>
          </a:p>
          <a:p>
            <a:endParaRPr lang="en-US" dirty="0"/>
          </a:p>
          <a:p>
            <a:r>
              <a:rPr lang="en-US" dirty="0"/>
              <a:t>Observable ≠ Execution</a:t>
            </a:r>
          </a:p>
          <a:p>
            <a:r>
              <a:rPr lang="en-US" dirty="0"/>
              <a:t>Subscribe = Start (</a:t>
            </a:r>
            <a:r>
              <a:rPr lang="en-US" dirty="0" err="1"/>
              <a:t>aktivira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)</a:t>
            </a:r>
            <a:endParaRPr lang="sr-Latn-R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58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027D-64E5-CD23-7E0F-4133E85B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RxJS</a:t>
            </a:r>
            <a:r>
              <a:rPr lang="en-US" dirty="0"/>
              <a:t> (Reactive Extensions for JavaScript)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03F74A-F8A7-31F9-E0AB-D98DA06EC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470032"/>
            <a:ext cx="4496427" cy="142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E8C54-7322-5C4A-31D6-B46F54C67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67" y="2470032"/>
            <a:ext cx="4715533" cy="1428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5581ED-BF62-0EE8-1F6C-F0019A0F0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667" y="4343343"/>
            <a:ext cx="1895740" cy="8192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9E9C97-D98B-69D5-6DE4-711B1AC9A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343343"/>
            <a:ext cx="1971950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6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A283-9F34-D7B6-26AA-CCE1251C1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RxJS</a:t>
            </a:r>
            <a:r>
              <a:rPr lang="en-US" dirty="0">
                <a:effectLst/>
              </a:rPr>
              <a:t> (Reactive Extensions for JavaScript)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346AA-862E-437B-683E-6DD7D6FFE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/>
              <a:t>Observable notifications</a:t>
            </a:r>
            <a:endParaRPr lang="sr-Latn-RS" dirty="0"/>
          </a:p>
          <a:p>
            <a:pPr marL="36900" indent="0">
              <a:buNone/>
            </a:pPr>
            <a:endParaRPr lang="sr-Latn-RS" dirty="0"/>
          </a:p>
          <a:p>
            <a:pPr lvl="1"/>
            <a:r>
              <a:rPr lang="sr-Latn-RS" dirty="0"/>
              <a:t>next – nova vrednost</a:t>
            </a:r>
          </a:p>
          <a:p>
            <a:pPr lvl="1"/>
            <a:r>
              <a:rPr lang="sr-Latn-RS" dirty="0"/>
              <a:t>error – tok se prekida</a:t>
            </a:r>
          </a:p>
          <a:p>
            <a:pPr lvl="1"/>
            <a:r>
              <a:rPr lang="sr-Latn-RS" dirty="0"/>
              <a:t>complete – kraj toka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951D3-5FE7-29E3-3792-FE4101DA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626" y="2724201"/>
            <a:ext cx="5353797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899842-ACD8-C538-FF07-F5EC6794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626" y="4850046"/>
            <a:ext cx="2991267" cy="724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F86447-73C2-E355-48A1-B969DEAE7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626" y="2301186"/>
            <a:ext cx="4258269" cy="381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67FAE8-5219-122D-88B7-3CCB31058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099" y="3406962"/>
            <a:ext cx="4267796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0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C0F8-F6E9-7F3A-CB1A-E6922217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RxJS</a:t>
            </a:r>
            <a:r>
              <a:rPr lang="en-US" dirty="0">
                <a:effectLst/>
              </a:rPr>
              <a:t> (Reactive Extensions for JavaScript)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E800-7E5C-ED77-AE21-06A1ED8F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85951"/>
            <a:ext cx="9720073" cy="4423410"/>
          </a:xfrm>
        </p:spPr>
        <p:txBody>
          <a:bodyPr/>
          <a:lstStyle/>
          <a:p>
            <a:r>
              <a:rPr lang="en-US" dirty="0"/>
              <a:t>Ru</a:t>
            </a:r>
            <a:r>
              <a:rPr lang="sr-Latn-RS" dirty="0"/>
              <a:t>č</a:t>
            </a:r>
            <a:r>
              <a:rPr lang="en-US" dirty="0"/>
              <a:t>no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pretplatama</a:t>
            </a:r>
            <a:r>
              <a:rPr lang="sr-Latn-RS" dirty="0"/>
              <a:t> </a:t>
            </a:r>
            <a:br>
              <a:rPr lang="en-US" dirty="0"/>
            </a:br>
            <a:endParaRPr lang="sr-Latn-R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9F3C1-7233-A52E-2C9F-E6F183A11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03" y="3729254"/>
            <a:ext cx="6706536" cy="254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C0EC7A-E794-B509-E8EB-A16810B81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03" y="2419273"/>
            <a:ext cx="4477375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6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40C1-A4EC-A093-F1CC-23104A85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RxJS</a:t>
            </a:r>
            <a:r>
              <a:rPr lang="en-US" dirty="0">
                <a:effectLst/>
              </a:rPr>
              <a:t> (Reactive Extensions for JavaScript)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683E4-1FED-B7B2-5D4B-2E3B51FEA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>
                <a:effectLst/>
              </a:rPr>
              <a:t>Bogat skup operatora </a:t>
            </a:r>
            <a:r>
              <a:rPr lang="en-GB" dirty="0">
                <a:effectLst/>
              </a:rPr>
              <a:t>map, filter, </a:t>
            </a:r>
            <a:r>
              <a:rPr lang="en-GB" dirty="0" err="1">
                <a:effectLst/>
              </a:rPr>
              <a:t>switchMap</a:t>
            </a:r>
            <a:r>
              <a:rPr lang="en-GB" dirty="0">
                <a:effectLst/>
              </a:rPr>
              <a:t>, </a:t>
            </a:r>
            <a:r>
              <a:rPr lang="en-GB" dirty="0" err="1">
                <a:effectLst/>
              </a:rPr>
              <a:t>debounceTime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i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combineLatest</a:t>
            </a:r>
            <a:r>
              <a:rPr lang="sr-Latn-RS" dirty="0">
                <a:effectLst/>
              </a:rPr>
              <a:t>...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DB25F2-4038-0885-BB8E-CBFB766B3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11573"/>
            <a:ext cx="6868484" cy="1486107"/>
          </a:xfrm>
          <a:prstGeom prst="rect">
            <a:avLst/>
          </a:prstGeom>
        </p:spPr>
      </p:pic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DC9F5447-DA39-0041-EDB5-B8789D21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387688"/>
            <a:ext cx="706853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5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A5D2-144F-8264-D0E0-85C8CC64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Angular Signals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9908-9B92-7624-7ADF-3EA473ED2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333875"/>
          </a:xfrm>
        </p:spPr>
        <p:txBody>
          <a:bodyPr>
            <a:normAutofit/>
          </a:bodyPr>
          <a:lstStyle/>
          <a:p>
            <a:r>
              <a:rPr lang="sr-Latn-RS" dirty="0"/>
              <a:t>Angular V&gt;15</a:t>
            </a:r>
            <a:endParaRPr lang="en-US" dirty="0"/>
          </a:p>
          <a:p>
            <a:r>
              <a:rPr lang="en-US" dirty="0" err="1"/>
              <a:t>Jednostavnije</a:t>
            </a:r>
            <a:r>
              <a:rPr lang="en-US" dirty="0"/>
              <a:t> I </a:t>
            </a:r>
            <a:r>
              <a:rPr lang="en-US" dirty="0" err="1"/>
              <a:t>preciznije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stanjem</a:t>
            </a:r>
            <a:r>
              <a:rPr lang="en-US" dirty="0"/>
              <a:t> </a:t>
            </a:r>
            <a:r>
              <a:rPr lang="en-US" dirty="0" err="1"/>
              <a:t>aplikacije</a:t>
            </a:r>
            <a:endParaRPr lang="sr-Latn-RS" dirty="0"/>
          </a:p>
          <a:p>
            <a:r>
              <a:rPr lang="sr-Latn-RS" dirty="0"/>
              <a:t>Reaktivni kontejner za vrednost</a:t>
            </a:r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Vrednost se čita pozivom allProducts(), </a:t>
            </a:r>
            <a:r>
              <a:rPr lang="en-US" dirty="0"/>
              <a:t>product</a:t>
            </a:r>
            <a:r>
              <a:rPr lang="sr-Latn-RS" dirty="0"/>
              <a:t>(), searchPattern()</a:t>
            </a:r>
            <a:r>
              <a:rPr lang="en-US" dirty="0"/>
              <a:t>, …</a:t>
            </a:r>
            <a:endParaRPr lang="sr-Latn-RS" dirty="0"/>
          </a:p>
          <a:p>
            <a:pPr marL="36900" indent="0">
              <a:buNone/>
            </a:pPr>
            <a:r>
              <a:rPr lang="sr-Latn-RS" dirty="0"/>
              <a:t>	</a:t>
            </a:r>
          </a:p>
          <a:p>
            <a:endParaRPr lang="sr-Latn-RS" dirty="0"/>
          </a:p>
          <a:p>
            <a:endParaRPr lang="sr-Latn-RS" dirty="0"/>
          </a:p>
          <a:p>
            <a:pPr marL="36900" indent="0">
              <a:buNone/>
            </a:pPr>
            <a:endParaRPr lang="sr-Latn-R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55049-FE99-97D7-EB16-B254F47F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999180"/>
            <a:ext cx="4363059" cy="1057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6BC3F-676F-5E8B-0BC4-6B1BDE0D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501034"/>
            <a:ext cx="519185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75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5EBD4B-6BAD-6D22-DCFF-33A1C3A7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13" y="813207"/>
            <a:ext cx="10353762" cy="970450"/>
          </a:xfrm>
        </p:spPr>
        <p:txBody>
          <a:bodyPr/>
          <a:lstStyle/>
          <a:p>
            <a:r>
              <a:rPr lang="sr-Latn-RS" dirty="0"/>
              <a:t>Angular Signals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340F0-DC9B-BCA2-E3BE-10B2E6E6F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7450" y="1820659"/>
            <a:ext cx="3300984" cy="764782"/>
          </a:xfrm>
        </p:spPr>
        <p:txBody>
          <a:bodyPr/>
          <a:lstStyle/>
          <a:p>
            <a:r>
              <a:rPr lang="sr-Latn-RS" dirty="0"/>
              <a:t>Writable 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925CDE-D553-28B4-7EC3-58DE8DDA8C89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07450" y="2695725"/>
            <a:ext cx="2826503" cy="30230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61CAF2-A07D-9ABB-252A-CDA9F7034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0184" y="1893940"/>
            <a:ext cx="3300984" cy="764783"/>
          </a:xfrm>
        </p:spPr>
        <p:txBody>
          <a:bodyPr/>
          <a:lstStyle/>
          <a:p>
            <a:r>
              <a:rPr lang="sr-Latn-RS" dirty="0"/>
              <a:t>Computed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F617E5-1E95-35AF-5726-382BCA50D0D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599586" y="2695725"/>
            <a:ext cx="5158463" cy="30230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16F040-C623-1AEA-169F-EB8F81004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2755" y="1822432"/>
            <a:ext cx="3300984" cy="764782"/>
          </a:xfrm>
        </p:spPr>
        <p:txBody>
          <a:bodyPr/>
          <a:lstStyle/>
          <a:p>
            <a:r>
              <a:rPr lang="sr-Latn-RS" dirty="0"/>
              <a:t>Effect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BA031-D131-327B-DDEF-F7145A138EC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995272" y="2797448"/>
            <a:ext cx="2387103" cy="302308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36C6E0-33DD-7DE5-3BDA-0255EDF2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272" y="3301274"/>
            <a:ext cx="2695951" cy="1209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DA1D0-5346-5A0A-A347-C9F24041A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050" y="3274569"/>
            <a:ext cx="5077534" cy="22005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10C791-E88D-47DD-CF69-598A66616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96" y="3274569"/>
            <a:ext cx="2734057" cy="1714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182CAF-C958-2F28-45E5-E0E0FEB2D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96" y="3668038"/>
            <a:ext cx="2591162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51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A2D53-A079-ECE7-7426-9E79B8E6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Angular Signals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C8AE-7926-4149-87BB-BD760390C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866900"/>
            <a:ext cx="9720073" cy="4023360"/>
          </a:xfrm>
        </p:spPr>
        <p:txBody>
          <a:bodyPr/>
          <a:lstStyle/>
          <a:p>
            <a:r>
              <a:rPr lang="sr-Latn-RS" sz="2400" dirty="0"/>
              <a:t>Writable signal</a:t>
            </a:r>
          </a:p>
          <a:p>
            <a:r>
              <a:rPr lang="sr-Latn-RS" dirty="0"/>
              <a:t>Vrednost se menja pomoću: </a:t>
            </a:r>
          </a:p>
          <a:p>
            <a:pPr marL="450000" lvl="1" indent="0">
              <a:buNone/>
            </a:pPr>
            <a:r>
              <a:rPr lang="sr-Latn-RS" dirty="0"/>
              <a:t>										set(new value)	</a:t>
            </a:r>
            <a:r>
              <a:rPr lang="en-US" dirty="0"/>
              <a:t>			</a:t>
            </a:r>
            <a:r>
              <a:rPr lang="sr-Latn-RS" dirty="0"/>
              <a:t>update(fn)		</a:t>
            </a:r>
          </a:p>
          <a:p>
            <a:pPr lvl="1"/>
            <a:endParaRPr lang="sr-Latn-R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CCC21-0C9F-9784-93E2-87D23006A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8" y="3581688"/>
            <a:ext cx="3572374" cy="2038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EC96EE-8F97-3BE8-7B61-16D33C42E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399" y="3581688"/>
            <a:ext cx="5715798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16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1014-6567-93DA-680E-5EBA659F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RxJS i Angular Signals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A02383-A078-9787-7040-514731D94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953" y="1704975"/>
            <a:ext cx="6655371" cy="2524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F46DF8-CC1E-9D84-BAFC-010526E34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04974"/>
            <a:ext cx="4283788" cy="1057275"/>
          </a:xfrm>
          <a:prstGeom prst="rect">
            <a:avLst/>
          </a:prstGeom>
        </p:spPr>
      </p:pic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5EA13FAC-99F9-2642-BC2E-0E15C0E31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24128" y="4407001"/>
            <a:ext cx="6766392" cy="2215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6304E7-6408-2D38-677A-61D7F54A628D}"/>
              </a:ext>
            </a:extLst>
          </p:cNvPr>
          <p:cNvSpPr txBox="1"/>
          <p:nvPr/>
        </p:nvSpPr>
        <p:spPr>
          <a:xfrm>
            <a:off x="952500" y="3105834"/>
            <a:ext cx="272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toSignal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toObservable</a:t>
            </a:r>
            <a:r>
              <a:rPr lang="en-US" dirty="0"/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4279747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4FD635-0872-A4C8-1C39-51BA54084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54503"/>
            <a:ext cx="9587380" cy="673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05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F07A-A2C2-6B50-3992-8C1C9ED8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90" y="865613"/>
            <a:ext cx="10353762" cy="807463"/>
          </a:xfrm>
        </p:spPr>
        <p:txBody>
          <a:bodyPr>
            <a:normAutofit/>
          </a:bodyPr>
          <a:lstStyle/>
          <a:p>
            <a:r>
              <a:rPr lang="sr-Latn-RS" dirty="0"/>
              <a:t>RxJS/Angular Signals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4B9EE-4F6F-FFCE-D72B-3BC287562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6013" y="1629309"/>
            <a:ext cx="4764764" cy="451685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RxJS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753276C-962B-6296-ACC1-570DA9F459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9119" y="2080994"/>
            <a:ext cx="4764087" cy="14540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9BF101-22D7-DC8C-571C-2B507BA12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171" y="1716848"/>
            <a:ext cx="4779582" cy="27660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Angular Signals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8F89704-C21E-D6CD-354C-4A60FD42DA8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40172" y="2080996"/>
            <a:ext cx="4445758" cy="18570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4A8725-B494-0EF2-3191-04FEA65A1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171" y="3937998"/>
            <a:ext cx="3687065" cy="17902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8F9058D-4796-465C-7671-46EC27323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684" y="4185063"/>
            <a:ext cx="2810199" cy="505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C83FC6-0DED-0A36-E546-628C4604C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760" y="3762397"/>
            <a:ext cx="4722446" cy="1857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F582F-E1FD-21AC-50AC-33B3C00B3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8395" y="3762397"/>
            <a:ext cx="2491137" cy="55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4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8CAAB-881A-807F-EB55-F2C0A1AAF08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5787" y="704850"/>
            <a:ext cx="9720263" cy="4022725"/>
          </a:xfrm>
        </p:spPr>
        <p:txBody>
          <a:bodyPr/>
          <a:lstStyle/>
          <a:p>
            <a:r>
              <a:rPr lang="sr-Latn-RS" dirty="0"/>
              <a:t>Angular Signals</a:t>
            </a:r>
            <a:r>
              <a:rPr lang="en-US" dirty="0"/>
              <a:t> ne </a:t>
            </a:r>
            <a:r>
              <a:rPr lang="en-US" dirty="0" err="1"/>
              <a:t>zamenjuju</a:t>
            </a:r>
            <a:r>
              <a:rPr lang="en-US" dirty="0"/>
              <a:t> </a:t>
            </a:r>
            <a:r>
              <a:rPr lang="en-US" dirty="0" err="1"/>
              <a:t>RxJS</a:t>
            </a:r>
            <a:r>
              <a:rPr lang="en-US" dirty="0"/>
              <a:t> – oni ga </a:t>
            </a:r>
            <a:r>
              <a:rPr lang="en-US" dirty="0" err="1"/>
              <a:t>dopunjuju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RxJS</a:t>
            </a:r>
            <a:r>
              <a:rPr lang="en-US" dirty="0"/>
              <a:t> </a:t>
            </a:r>
            <a:r>
              <a:rPr lang="sr-Latn-RS" dirty="0"/>
              <a:t>       </a:t>
            </a:r>
            <a:r>
              <a:rPr lang="en-US" dirty="0" err="1"/>
              <a:t>asinhroni</a:t>
            </a:r>
            <a:r>
              <a:rPr lang="en-US" dirty="0"/>
              <a:t> </a:t>
            </a:r>
            <a:r>
              <a:rPr lang="sr-Latn-RS" dirty="0"/>
              <a:t>tokovi i događaji</a:t>
            </a:r>
          </a:p>
          <a:p>
            <a:r>
              <a:rPr lang="sr-Latn-RS" dirty="0"/>
              <a:t>Signals      stanje i UI logika</a:t>
            </a:r>
          </a:p>
          <a:p>
            <a:r>
              <a:rPr lang="sr-Latn-RS" dirty="0"/>
              <a:t>Interoperabilnost       najbolje iz oba pristupa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A27A93-58AA-5E9B-B1FD-141389CB6B18}"/>
              </a:ext>
            </a:extLst>
          </p:cNvPr>
          <p:cNvCxnSpPr>
            <a:cxnSpLocks/>
          </p:cNvCxnSpPr>
          <p:nvPr/>
        </p:nvCxnSpPr>
        <p:spPr>
          <a:xfrm>
            <a:off x="1371600" y="1866900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68B9BF-D705-91CE-1D8D-63C47833BBAF}"/>
              </a:ext>
            </a:extLst>
          </p:cNvPr>
          <p:cNvCxnSpPr>
            <a:cxnSpLocks/>
          </p:cNvCxnSpPr>
          <p:nvPr/>
        </p:nvCxnSpPr>
        <p:spPr>
          <a:xfrm>
            <a:off x="1562100" y="2362200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D8074D-FEF7-558C-B45D-88E9E434ED57}"/>
              </a:ext>
            </a:extLst>
          </p:cNvPr>
          <p:cNvCxnSpPr>
            <a:cxnSpLocks/>
          </p:cNvCxnSpPr>
          <p:nvPr/>
        </p:nvCxnSpPr>
        <p:spPr>
          <a:xfrm>
            <a:off x="2619375" y="2838450"/>
            <a:ext cx="29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19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76CA-C066-0161-61CE-4DA3C63D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Pokretanje</a:t>
            </a:r>
            <a:r>
              <a:rPr lang="en-US" dirty="0"/>
              <a:t> Shopping cart </a:t>
            </a:r>
            <a:r>
              <a:rPr lang="en-US" dirty="0" err="1"/>
              <a:t>aplikacije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9421F1-1E9B-435C-68B4-756117CF2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Preduslovi</a:t>
            </a:r>
            <a:r>
              <a:rPr lang="en-US" sz="2800" dirty="0"/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     Node.js: </a:t>
            </a:r>
            <a:r>
              <a:rPr lang="en-US" dirty="0">
                <a:hlinkClick r:id="rId2"/>
              </a:rPr>
              <a:t>https://angular.dev/reference/versions</a:t>
            </a:r>
            <a:r>
              <a:rPr lang="en-US"/>
              <a:t>, </a:t>
            </a:r>
            <a:r>
              <a:rPr lang="en-US">
                <a:hlinkClick r:id="rId3"/>
              </a:rPr>
              <a:t>https://nodejs.org/en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     Angular CLI (V &gt;= 16)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Kloniranje</a:t>
            </a:r>
            <a:r>
              <a:rPr lang="en-US" dirty="0"/>
              <a:t> </a:t>
            </a:r>
            <a:r>
              <a:rPr lang="en-US" dirty="0" err="1"/>
              <a:t>repozitorijuma</a:t>
            </a:r>
            <a:r>
              <a:rPr lang="en-US" dirty="0"/>
              <a:t>: 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4"/>
              </a:rPr>
              <a:t>https://github.com/anitagolubovic/SignalsAndRxJs</a:t>
            </a:r>
            <a:endParaRPr lang="en-US" dirty="0"/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cd </a:t>
            </a:r>
            <a:r>
              <a:rPr lang="en-US" dirty="0" err="1"/>
              <a:t>SignalsAndRxJs</a:t>
            </a:r>
            <a:endParaRPr lang="en-US" dirty="0"/>
          </a:p>
          <a:p>
            <a:pPr marL="630936" lvl="1" indent="-457200">
              <a:buFont typeface="+mj-lt"/>
              <a:buAutoNum type="arabicPeriod"/>
            </a:pPr>
            <a:endParaRPr lang="en-US" dirty="0"/>
          </a:p>
          <a:p>
            <a:pPr marL="173736" lvl="1" indent="0">
              <a:buNone/>
            </a:pPr>
            <a:r>
              <a:rPr lang="en-US" dirty="0" err="1"/>
              <a:t>Instaliranje</a:t>
            </a:r>
            <a:r>
              <a:rPr lang="en-US" dirty="0"/>
              <a:t> </a:t>
            </a:r>
            <a:r>
              <a:rPr lang="en-US" dirty="0" err="1"/>
              <a:t>zavisnosti</a:t>
            </a:r>
            <a:r>
              <a:rPr lang="en-US" dirty="0"/>
              <a:t>: </a:t>
            </a:r>
            <a:r>
              <a:rPr lang="en-US" b="1" dirty="0"/>
              <a:t>yarn install, yarn add </a:t>
            </a:r>
            <a:r>
              <a:rPr lang="en-US" b="1" dirty="0" err="1"/>
              <a:t>json</a:t>
            </a:r>
            <a:r>
              <a:rPr lang="en-US" b="1" dirty="0"/>
              <a:t>-server</a:t>
            </a:r>
          </a:p>
          <a:p>
            <a:pPr marL="173736" lvl="1" indent="0">
              <a:buNone/>
            </a:pPr>
            <a:r>
              <a:rPr lang="en-US" dirty="0"/>
              <a:t>JSON Server: </a:t>
            </a:r>
            <a:r>
              <a:rPr lang="en-US" b="1" dirty="0"/>
              <a:t>yarn fake-</a:t>
            </a:r>
            <a:r>
              <a:rPr lang="en-US" b="1" dirty="0" err="1"/>
              <a:t>api</a:t>
            </a:r>
            <a:endParaRPr lang="en-US" b="1" dirty="0"/>
          </a:p>
          <a:p>
            <a:pPr marL="173736" lvl="1" indent="0">
              <a:buNone/>
            </a:pPr>
            <a:r>
              <a:rPr lang="en-US" dirty="0"/>
              <a:t>Angular </a:t>
            </a:r>
            <a:r>
              <a:rPr lang="en-US" dirty="0" err="1"/>
              <a:t>aplikacija</a:t>
            </a:r>
            <a:r>
              <a:rPr lang="en-US" dirty="0"/>
              <a:t>: </a:t>
            </a:r>
            <a:r>
              <a:rPr lang="en-US" b="1" dirty="0"/>
              <a:t>ng serve</a:t>
            </a:r>
          </a:p>
          <a:p>
            <a:r>
              <a:rPr lang="en-US" u="sng" dirty="0">
                <a:hlinkClick r:id="rId5"/>
              </a:rPr>
              <a:t>http://localhost:4200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408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85E0-8403-07CA-BA43-743A990E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Shopping cart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AE88E4-E8A4-7406-1603-8ACD250FD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4285" y="1731316"/>
            <a:ext cx="2235365" cy="5046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BB8DB7-6B98-7A5F-A154-EC67E886D82E}"/>
              </a:ext>
            </a:extLst>
          </p:cNvPr>
          <p:cNvSpPr txBox="1"/>
          <p:nvPr/>
        </p:nvSpPr>
        <p:spPr>
          <a:xfrm>
            <a:off x="723900" y="4069905"/>
            <a:ext cx="174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Sadržaj projekta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800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045B-39F7-074A-042D-59D4BBA54A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38325" y="2495550"/>
            <a:ext cx="10353675" cy="1257300"/>
          </a:xfrm>
        </p:spPr>
        <p:txBody>
          <a:bodyPr/>
          <a:lstStyle/>
          <a:p>
            <a:r>
              <a:rPr lang="sr-Latn-RS" dirty="0"/>
              <a:t>Hvala na pažnji!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997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1090</TotalTime>
  <Words>401</Words>
  <Application>Microsoft Office PowerPoint</Application>
  <PresentationFormat>Widescreen</PresentationFormat>
  <Paragraphs>93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Tw Cen MT</vt:lpstr>
      <vt:lpstr>Tw Cen MT Condensed</vt:lpstr>
      <vt:lpstr>Wingdings 3</vt:lpstr>
      <vt:lpstr>Integral</vt:lpstr>
      <vt:lpstr>RxJS I Angular Signals:  Reaktivna Shopping Cart aplikacija </vt:lpstr>
      <vt:lpstr>Sadržaj:</vt:lpstr>
      <vt:lpstr>Reaktivno programiranje u Angularu</vt:lpstr>
      <vt:lpstr>RxJS (Reactive Extensions for JavaScript)</vt:lpstr>
      <vt:lpstr>RxJS (Reactive Extensions for JavaScript)</vt:lpstr>
      <vt:lpstr>RxJS (Reactive Extensions for JavaScript)</vt:lpstr>
      <vt:lpstr>RxJS (Reactive Extensions for JavaScript)</vt:lpstr>
      <vt:lpstr>RxJS (Reactive Extensions for JavaScript)</vt:lpstr>
      <vt:lpstr>RxJS (Reactive Extensions for JavaScript)</vt:lpstr>
      <vt:lpstr>Angular Signals</vt:lpstr>
      <vt:lpstr>Angular Signals</vt:lpstr>
      <vt:lpstr>Angular Signals</vt:lpstr>
      <vt:lpstr>RxJS i Angular Signals</vt:lpstr>
      <vt:lpstr>PowerPoint Presentation</vt:lpstr>
      <vt:lpstr>RxJS/Angular Signals</vt:lpstr>
      <vt:lpstr>PowerPoint Presentation</vt:lpstr>
      <vt:lpstr>Pokretanje Shopping cart aplikacije</vt:lpstr>
      <vt:lpstr>Shopping cart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Anita Golubovic</dc:creator>
  <cp:lastModifiedBy>Anita Golubovic</cp:lastModifiedBy>
  <cp:revision>48</cp:revision>
  <dcterms:created xsi:type="dcterms:W3CDTF">2026-01-04T15:59:55Z</dcterms:created>
  <dcterms:modified xsi:type="dcterms:W3CDTF">2026-01-08T21:40:23Z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
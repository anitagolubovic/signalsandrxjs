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22"/>
  </p:notesMasterIdLst>
  <p:sldIdLst>
    <p:sldId id="278" r:id="rId5"/>
    <p:sldId id="279" r:id="rId6"/>
    <p:sldId id="280" r:id="rId7"/>
    <p:sldId id="282" r:id="rId8"/>
    <p:sldId id="290" r:id="rId9"/>
    <p:sldId id="293" r:id="rId10"/>
    <p:sldId id="291" r:id="rId11"/>
    <p:sldId id="292" r:id="rId12"/>
    <p:sldId id="283" r:id="rId13"/>
    <p:sldId id="284" r:id="rId14"/>
    <p:sldId id="294" r:id="rId15"/>
    <p:sldId id="289" r:id="rId16"/>
    <p:sldId id="295" r:id="rId17"/>
    <p:sldId id="286" r:id="rId18"/>
    <p:sldId id="285" r:id="rId19"/>
    <p:sldId id="287" r:id="rId20"/>
    <p:sldId id="288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19" autoAdjust="0"/>
  </p:normalViewPr>
  <p:slideViewPr>
    <p:cSldViewPr snapToGrid="0">
      <p:cViewPr>
        <p:scale>
          <a:sx n="88" d="100"/>
          <a:sy n="88" d="100"/>
        </p:scale>
        <p:origin x="494" y="-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D01546-198A-4195-BCF8-F0FF54C90E5E}" type="datetimeFigureOut">
              <a:rPr lang="en-US" smtClean="0"/>
              <a:t>1/5/2026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6DE88F-1F85-4A27-9D34-D74A50E7B0D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00918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3AEA074-24A7-4657-AE02-A51F68EA6AA2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578475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77348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38747-4367-4BD2-8D51-C97E202738E2}" type="datetime1">
              <a:rPr lang="en-US" smtClean="0"/>
              <a:t>1/5/2026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07467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55A3C-5767-4844-A0A3-83778C2E5409}" type="datetime1">
              <a:rPr lang="en-US" smtClean="0"/>
              <a:t>1/5/2026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48654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763439"/>
            <a:ext cx="9590550" cy="133349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507A8-A5CF-4D38-AB86-7EDDA87A85D4}" type="datetime1">
              <a:rPr lang="en-US" smtClean="0"/>
              <a:t>1/5/2026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6401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618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76450"/>
            <a:ext cx="4856841" cy="362267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0716" y="2076451"/>
            <a:ext cx="4856841" cy="3622672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CD27C-8599-43EF-BA1D-14DDC1946E06}" type="datetime1">
              <a:rPr lang="en-US" smtClean="0"/>
              <a:t>1/5/2026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8205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>
            <a:extLst>
              <a:ext uri="{FF2B5EF4-FFF2-40B4-BE49-F238E27FC236}">
                <a16:creationId xmlns:a16="http://schemas.microsoft.com/office/drawing/2014/main" id="{37B721FF-D609-4D98-9D19-CF75AA8A5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29200" cy="4099959"/>
          </a:xfrm>
          <a:prstGeom prst="rect">
            <a:avLst/>
          </a:prstGeom>
        </p:spPr>
      </p:pic>
      <p:pic>
        <p:nvPicPr>
          <p:cNvPr id="21" name="Picture 20" descr="Slate-V2-HD-compPhotoInset.png">
            <a:extLst>
              <a:ext uri="{FF2B5EF4-FFF2-40B4-BE49-F238E27FC236}">
                <a16:creationId xmlns:a16="http://schemas.microsoft.com/office/drawing/2014/main" id="{073936BD-C868-433F-8E84-D6DD8E640E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357" y="1734506"/>
            <a:ext cx="5029200" cy="409995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6013" y="1855153"/>
            <a:ext cx="4764764" cy="69249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6013" y="2702103"/>
            <a:ext cx="4764764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3166" y="1855152"/>
            <a:ext cx="4779582" cy="692495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3167" y="2702103"/>
            <a:ext cx="4779581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343D99-809A-49C0-96E5-4250D0B498EE}" type="datetime1">
              <a:rPr lang="en-US" smtClean="0"/>
              <a:t>1/5/2026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5120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3DE9B-B678-4EFB-BB7D-A4370204A0B0}" type="datetime1">
              <a:rPr lang="en-US" smtClean="0"/>
              <a:t>1/5/2026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094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8812DA-F765-4142-A6A3-A8ED7235E082}" type="datetime1">
              <a:rPr lang="en-US" smtClean="0"/>
              <a:t>1/5/2026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51302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0800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673351"/>
            <a:ext cx="3706889" cy="301625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77FD-7DE6-41D4-930D-AC99F5AFE54E}" type="datetime1">
              <a:rPr lang="en-US" smtClean="0"/>
              <a:t>1/5/2026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3556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>
            <a:extLst>
              <a:ext uri="{FF2B5EF4-FFF2-40B4-BE49-F238E27FC236}">
                <a16:creationId xmlns:a16="http://schemas.microsoft.com/office/drawing/2014/main" id="{4D06E496-ACBA-4063-B4A1-C5C484EE5A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763701"/>
            <a:ext cx="5707899" cy="1675559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3698" y="2679699"/>
            <a:ext cx="4588094" cy="3135695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15526-7079-4B7B-987C-1B5FAE11A0FF}" type="datetime1">
              <a:rPr lang="en-US" smtClean="0"/>
              <a:t>1/5/2026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0567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>
            <a:extLst>
              <a:ext uri="{FF2B5EF4-FFF2-40B4-BE49-F238E27FC236}">
                <a16:creationId xmlns:a16="http://schemas.microsoft.com/office/drawing/2014/main" id="{CE39118B-B3AD-4BD4-BA22-DEFF4E76C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247728"/>
            <a:ext cx="10353762" cy="543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B079-7EF0-44EE-B798-BCC497C9F3B2}" type="datetime1">
              <a:rPr lang="en-US" smtClean="0"/>
              <a:t>1/5/2026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95022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F70A8-1D13-4657-95F0-A9EA54967B8D}" type="datetime1">
              <a:rPr lang="en-US" smtClean="0"/>
              <a:t>1/5/2026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3850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EB90AC-71BD-4C7F-8ACA-7B3F18292E63}" type="datetime1">
              <a:rPr lang="en-US" smtClean="0"/>
              <a:t>1/5/2026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3F0D53-0705-41B7-8554-09D21E7807F9}"/>
              </a:ext>
            </a:extLst>
          </p:cNvPr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F647CD-0F1A-4BB3-89E0-A74F1E1B098D}"/>
              </a:ext>
            </a:extLst>
          </p:cNvPr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752911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EFC2C-8905-46F0-B443-CE905B76BA01}" type="datetime1">
              <a:rPr lang="en-US" smtClean="0"/>
              <a:t>1/5/2026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5092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49"/>
            <a:ext cx="3300984" cy="764783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768110"/>
            <a:ext cx="3300984" cy="302308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79DC3-C9B5-499E-9140-0DC28B7074E2}" type="datetime1">
              <a:rPr lang="en-US" smtClean="0"/>
              <a:t>1/5/2026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26478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>
            <a:extLst>
              <a:ext uri="{FF2B5EF4-FFF2-40B4-BE49-F238E27FC236}">
                <a16:creationId xmlns:a16="http://schemas.microsoft.com/office/drawing/2014/main" id="{7E87C569-D426-4615-ADA7-B370EA9834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>
            <a:extLst>
              <a:ext uri="{FF2B5EF4-FFF2-40B4-BE49-F238E27FC236}">
                <a16:creationId xmlns:a16="http://schemas.microsoft.com/office/drawing/2014/main" id="{7B353ED4-7AD0-46C9-88ED-1A16B1433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>
            <a:extLst>
              <a:ext uri="{FF2B5EF4-FFF2-40B4-BE49-F238E27FC236}">
                <a16:creationId xmlns:a16="http://schemas.microsoft.com/office/drawing/2014/main" id="{F561D985-AD57-459A-B3A6-EBF2960397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572443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B33EA-E472-4D22-9C03-A9C14AA21CED}" type="datetime1">
              <a:rPr lang="en-US" smtClean="0"/>
              <a:t>1/5/2026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32546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573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76450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073ED0CC-082F-4160-86E5-0D6041F12778}" type="datetime1">
              <a:rPr lang="en-US" smtClean="0"/>
              <a:t>1/5/2026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897835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</p:sldLayoutIdLst>
  <p:hf sldNum="0" hdr="0" ftr="0" dt="0"/>
  <p:txStyles>
    <p:titleStyle>
      <a:lvl1pPr algn="ctr" defTabSz="457200" rtl="0" eaLnBrk="1" latinLnBrk="0" hangingPunct="1">
        <a:lnSpc>
          <a:spcPct val="90000"/>
        </a:lnSpc>
        <a:spcBef>
          <a:spcPct val="0"/>
        </a:spcBef>
        <a:buNone/>
        <a:defRPr sz="4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3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21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6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Relationship Id="rId6" Type="http://schemas.openxmlformats.org/officeDocument/2006/relationships/image" Target="../media/image8.png"/><Relationship Id="rId5" Type="http://schemas.openxmlformats.org/officeDocument/2006/relationships/image" Target="../media/image7.jpeg"/><Relationship Id="rId4" Type="http://schemas.openxmlformats.org/officeDocument/2006/relationships/image" Target="../media/image1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8A1C807-B9AD-4C9B-BF9F-60F0342899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" y="10"/>
            <a:ext cx="12192001" cy="6857990"/>
          </a:xfrm>
          <a:prstGeom prst="rect">
            <a:avLst/>
          </a:prstGeom>
        </p:spPr>
      </p:pic>
      <p:sp useBgFill="1">
        <p:nvSpPr>
          <p:cNvPr id="103" name="Freeform 5">
            <a:extLst>
              <a:ext uri="{FF2B5EF4-FFF2-40B4-BE49-F238E27FC236}">
                <a16:creationId xmlns:a16="http://schemas.microsoft.com/office/drawing/2014/main" id="{FE469E50-3893-4ED6-92BA-2985C32B0C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rot="5400000">
            <a:off x="7131809" y="1385982"/>
            <a:ext cx="4031414" cy="4100418"/>
          </a:xfrm>
          <a:custGeom>
            <a:avLst/>
            <a:gdLst>
              <a:gd name="T0" fmla="*/ 1577 w 1601"/>
              <a:gd name="T1" fmla="*/ 0 h 696"/>
              <a:gd name="T2" fmla="*/ 833 w 1601"/>
              <a:gd name="T3" fmla="*/ 0 h 696"/>
              <a:gd name="T4" fmla="*/ 768 w 1601"/>
              <a:gd name="T5" fmla="*/ 0 h 696"/>
              <a:gd name="T6" fmla="*/ 24 w 1601"/>
              <a:gd name="T7" fmla="*/ 0 h 696"/>
              <a:gd name="T8" fmla="*/ 0 w 1601"/>
              <a:gd name="T9" fmla="*/ 27 h 696"/>
              <a:gd name="T10" fmla="*/ 0 w 1601"/>
              <a:gd name="T11" fmla="*/ 669 h 696"/>
              <a:gd name="T12" fmla="*/ 24 w 1601"/>
              <a:gd name="T13" fmla="*/ 696 h 696"/>
              <a:gd name="T14" fmla="*/ 768 w 1601"/>
              <a:gd name="T15" fmla="*/ 696 h 696"/>
              <a:gd name="T16" fmla="*/ 833 w 1601"/>
              <a:gd name="T17" fmla="*/ 696 h 696"/>
              <a:gd name="T18" fmla="*/ 1577 w 1601"/>
              <a:gd name="T19" fmla="*/ 696 h 696"/>
              <a:gd name="T20" fmla="*/ 1601 w 1601"/>
              <a:gd name="T21" fmla="*/ 669 h 696"/>
              <a:gd name="T22" fmla="*/ 1601 w 1601"/>
              <a:gd name="T23" fmla="*/ 27 h 696"/>
              <a:gd name="T24" fmla="*/ 1577 w 1601"/>
              <a:gd name="T25" fmla="*/ 0 h 6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601" h="696">
                <a:moveTo>
                  <a:pt x="1577" y="0"/>
                </a:moveTo>
                <a:cubicBezTo>
                  <a:pt x="833" y="0"/>
                  <a:pt x="833" y="0"/>
                  <a:pt x="833" y="0"/>
                </a:cubicBezTo>
                <a:cubicBezTo>
                  <a:pt x="768" y="0"/>
                  <a:pt x="768" y="0"/>
                  <a:pt x="768" y="0"/>
                </a:cubicBez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2"/>
                  <a:pt x="0" y="27"/>
                </a:cubicBezTo>
                <a:cubicBezTo>
                  <a:pt x="0" y="669"/>
                  <a:pt x="0" y="669"/>
                  <a:pt x="0" y="669"/>
                </a:cubicBezTo>
                <a:cubicBezTo>
                  <a:pt x="0" y="684"/>
                  <a:pt x="11" y="696"/>
                  <a:pt x="24" y="696"/>
                </a:cubicBezTo>
                <a:cubicBezTo>
                  <a:pt x="768" y="696"/>
                  <a:pt x="768" y="696"/>
                  <a:pt x="768" y="696"/>
                </a:cubicBezTo>
                <a:cubicBezTo>
                  <a:pt x="833" y="696"/>
                  <a:pt x="833" y="696"/>
                  <a:pt x="833" y="696"/>
                </a:cubicBezTo>
                <a:cubicBezTo>
                  <a:pt x="1577" y="696"/>
                  <a:pt x="1577" y="696"/>
                  <a:pt x="1577" y="696"/>
                </a:cubicBezTo>
                <a:cubicBezTo>
                  <a:pt x="1590" y="696"/>
                  <a:pt x="1601" y="684"/>
                  <a:pt x="1601" y="669"/>
                </a:cubicBezTo>
                <a:cubicBezTo>
                  <a:pt x="1601" y="27"/>
                  <a:pt x="1601" y="27"/>
                  <a:pt x="1601" y="27"/>
                </a:cubicBezTo>
                <a:cubicBezTo>
                  <a:pt x="1601" y="12"/>
                  <a:pt x="1590" y="0"/>
                  <a:pt x="1577" y="0"/>
                </a:cubicBezTo>
                <a:close/>
              </a:path>
            </a:pathLst>
          </a:custGeom>
          <a:ln>
            <a:noFill/>
          </a:ln>
          <a:effectLst>
            <a:outerShdw blurRad="50800" dist="38100" dir="5400000" algn="tl" rotWithShape="0">
              <a:srgbClr val="000000">
                <a:alpha val="43000"/>
              </a:srgbClr>
            </a:outerShdw>
          </a:effectLst>
          <a:extLst>
            <a:ext uri="{91240B29-F687-4f45-9708-019B960494DF}">
              <a14:hiddenLine xmlns="" xmlns:a14="http://schemas.microsoft.com/office/drawing/2010/main" xmlns:p14="http://schemas.microsoft.com/office/powerpoint/2010/main" xmlns:a16="http://schemas.microsoft.com/office/drawing/2014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oudy Old Style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1F047C-C727-42A7-85C5-68C5AA1B1A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04341" y="2057400"/>
            <a:ext cx="5086350" cy="1714500"/>
          </a:xfrm>
        </p:spPr>
        <p:txBody>
          <a:bodyPr>
            <a:noAutofit/>
          </a:bodyPr>
          <a:lstStyle/>
          <a:p>
            <a:r>
              <a:rPr lang="en-US" sz="3200" dirty="0"/>
              <a:t>Angular Signals </a:t>
            </a:r>
            <a:r>
              <a:rPr lang="sr-Latn-RS" sz="3200" dirty="0"/>
              <a:t>i</a:t>
            </a:r>
            <a:r>
              <a:rPr lang="en-US" sz="3200" dirty="0"/>
              <a:t> </a:t>
            </a:r>
            <a:r>
              <a:rPr lang="en-US" sz="3200" dirty="0" err="1"/>
              <a:t>RxJS</a:t>
            </a:r>
            <a:r>
              <a:rPr lang="en-US" sz="3200" dirty="0"/>
              <a:t>: </a:t>
            </a:r>
            <a:r>
              <a:rPr lang="en-US" sz="3200" dirty="0" err="1"/>
              <a:t>Reaktivna</a:t>
            </a:r>
            <a:r>
              <a:rPr lang="en-US" sz="3200" dirty="0"/>
              <a:t> Shopping Cart </a:t>
            </a:r>
            <a:r>
              <a:rPr lang="en-US" sz="3200" dirty="0" err="1"/>
              <a:t>aplikacija</a:t>
            </a:r>
            <a:br>
              <a:rPr lang="en-US" sz="3200" dirty="0"/>
            </a:br>
            <a:endParaRPr lang="en-US" sz="32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93FB3F-A8D4-46D3-A1C6-C79C645637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89965" y="4157933"/>
            <a:ext cx="3485072" cy="1026544"/>
          </a:xfrm>
        </p:spPr>
        <p:txBody>
          <a:bodyPr>
            <a:normAutofit/>
          </a:bodyPr>
          <a:lstStyle/>
          <a:p>
            <a:pPr algn="l"/>
            <a:r>
              <a:rPr lang="en-US" sz="2300" dirty="0"/>
              <a:t>Anita </a:t>
            </a:r>
            <a:r>
              <a:rPr lang="sr-Latn-RS" sz="2300" dirty="0"/>
              <a:t>Golubović, </a:t>
            </a:r>
          </a:p>
          <a:p>
            <a:pPr algn="l"/>
            <a:r>
              <a:rPr lang="sr-Latn-RS" sz="2300" dirty="0"/>
              <a:t>broj indeksa: 2095</a:t>
            </a:r>
            <a:endParaRPr lang="en-US" sz="2300" dirty="0"/>
          </a:p>
        </p:txBody>
      </p:sp>
    </p:spTree>
    <p:extLst>
      <p:ext uri="{BB962C8B-B14F-4D97-AF65-F5344CB8AC3E}">
        <p14:creationId xmlns:p14="http://schemas.microsoft.com/office/powerpoint/2010/main" val="41678842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4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5" name="Rectangle 54">
            <a:extLst>
              <a:ext uri="{FF2B5EF4-FFF2-40B4-BE49-F238E27FC236}">
                <a16:creationId xmlns:a16="http://schemas.microsoft.com/office/drawing/2014/main" id="{0EF2A0DA-AE81-4A45-972E-646AC2870C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oudy Old Style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2B2D6DE-C9B5-4678-91EF-77E85F2350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-1"/>
          <a:stretch/>
        </p:blipFill>
        <p:spPr>
          <a:xfrm>
            <a:off x="-8622" y="10"/>
            <a:ext cx="6096000" cy="6857990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B536FA4E-0152-4E27-91DA-0FC22D184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57026" y="1"/>
            <a:ext cx="5934973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9559F60-4CE1-4E2F-86EA-1B60679F1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00493" y="609600"/>
            <a:ext cx="4538124" cy="970450"/>
          </a:xfrm>
        </p:spPr>
        <p:txBody>
          <a:bodyPr anchor="b">
            <a:normAutofit/>
          </a:bodyPr>
          <a:lstStyle/>
          <a:p>
            <a:pPr algn="l"/>
            <a:r>
              <a:rPr lang="sr-Latn-RS" sz="4000" dirty="0"/>
              <a:t>Sadržaj:</a:t>
            </a:r>
            <a:endParaRPr lang="en-US" sz="4000" dirty="0"/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F260476B-CCA6-412B-A9C5-399C34AE6F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00493" y="1732449"/>
            <a:ext cx="4403596" cy="4058751"/>
          </a:xfrm>
        </p:spPr>
        <p:txBody>
          <a:bodyPr anchor="t">
            <a:normAutofit/>
          </a:bodyPr>
          <a:lstStyle/>
          <a:p>
            <a:pPr marL="494100" lvl="0" indent="-457200">
              <a:buFont typeface="+mj-lt"/>
              <a:buAutoNum type="arabicPeriod"/>
            </a:pPr>
            <a:r>
              <a:rPr lang="sr-Latn-RS" sz="2400" dirty="0"/>
              <a:t>Reaktivno programiranje</a:t>
            </a:r>
            <a:endParaRPr lang="en-US" sz="2400" dirty="0"/>
          </a:p>
          <a:p>
            <a:pPr marL="494100" lvl="0" indent="-457200">
              <a:buFont typeface="+mj-lt"/>
              <a:buAutoNum type="arabicPeriod"/>
            </a:pPr>
            <a:r>
              <a:rPr lang="sr-Latn-RS" sz="2400" dirty="0"/>
              <a:t>RxJS u Angularu</a:t>
            </a:r>
            <a:endParaRPr lang="en-US" sz="2400" dirty="0"/>
          </a:p>
          <a:p>
            <a:pPr marL="494100" lvl="0" indent="-457200">
              <a:buFont typeface="+mj-lt"/>
              <a:buAutoNum type="arabicPeriod"/>
            </a:pPr>
            <a:r>
              <a:rPr lang="sr-Latn-RS" sz="2400" dirty="0"/>
              <a:t>Angular Signals</a:t>
            </a:r>
            <a:endParaRPr lang="en-US" sz="2400" dirty="0"/>
          </a:p>
          <a:p>
            <a:pPr marL="494100" lvl="0" indent="-457200">
              <a:buFont typeface="+mj-lt"/>
              <a:buAutoNum type="arabicPeriod"/>
            </a:pPr>
            <a:r>
              <a:rPr lang="sr-Latn-RS" sz="2400" dirty="0"/>
              <a:t>Poređenje RxJS-a i signala</a:t>
            </a:r>
            <a:endParaRPr lang="en-US" sz="2400" dirty="0"/>
          </a:p>
          <a:p>
            <a:pPr marL="494100" lvl="0" indent="-457200">
              <a:buFont typeface="+mj-lt"/>
              <a:buAutoNum type="arabicPeriod"/>
            </a:pPr>
            <a:r>
              <a:rPr lang="sr-Latn-RS" sz="2400" dirty="0"/>
              <a:t>Zaključak</a:t>
            </a:r>
            <a:endParaRPr lang="en-US" sz="24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2202356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F408E5-EF32-2EBE-1E78-EB13B1916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r-Latn-RS" sz="3600" dirty="0"/>
              <a:t>Reaktivno programiranje</a:t>
            </a:r>
            <a:r>
              <a:rPr lang="en-US" sz="3600" dirty="0"/>
              <a:t> u </a:t>
            </a:r>
            <a:r>
              <a:rPr lang="en-US" sz="3600" dirty="0" err="1"/>
              <a:t>Angularu</a:t>
            </a:r>
            <a:endParaRPr lang="en-US" sz="36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10A7ED5-BCD3-14D3-6978-C86526E4F65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13795" y="2025612"/>
            <a:ext cx="10353762" cy="38164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kumimoji="0" lang="en-US" altLang="en-US" sz="1800" b="0" i="0" u="none" strike="noStrike" cap="none" normalizeH="0" baseline="0" dirty="0">
              <a:ln>
                <a:noFill/>
              </a:ln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285750" indent="-28575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UI je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uvek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sinhronizovan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stanjem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aplikacije</a:t>
            </a:r>
            <a:endParaRPr lang="en-US" altLang="en-US" sz="1800" dirty="0">
              <a:ln>
                <a:noFill/>
              </a:ln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285750" indent="-28575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kumimoji="0" lang="en-US" altLang="en-US" sz="1800" b="0" i="0" u="none" strike="noStrike" cap="none" normalizeH="0" baseline="0" dirty="0">
              <a:ln>
                <a:noFill/>
              </a:ln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285750" indent="-28575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Automatsko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ažuriranje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prikaza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promene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podataka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285750" indent="-28575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kumimoji="0" lang="en-US" altLang="en-US" sz="1800" b="0" i="0" u="none" strike="noStrike" cap="none" normalizeH="0" baseline="0" dirty="0">
              <a:ln>
                <a:noFill/>
              </a:ln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285750" indent="-28575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Reagovanje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:</a:t>
            </a:r>
          </a:p>
          <a:p>
            <a:pPr marL="285750" indent="-28575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kumimoji="0" lang="en-US" altLang="en-US" sz="1800" b="0" i="0" u="none" strike="noStrike" cap="none" normalizeH="0" baseline="0" dirty="0">
              <a:ln>
                <a:noFill/>
              </a:ln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6628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</a:pP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korisničke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interakcije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6628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</a:pPr>
            <a:endParaRPr kumimoji="0" lang="en-US" altLang="en-US" sz="1600" b="0" i="0" u="none" strike="noStrike" cap="none" normalizeH="0" baseline="0" dirty="0">
              <a:ln>
                <a:noFill/>
              </a:ln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6628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</a:pP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asinhrone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operacije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6628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</a:pPr>
            <a:endParaRPr kumimoji="0" lang="en-US" altLang="en-US" sz="1600" b="0" i="0" u="none" strike="noStrike" cap="none" normalizeH="0" baseline="0" dirty="0">
              <a:ln>
                <a:noFill/>
              </a:ln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6628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interne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promene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stanja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285750" indent="-28575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kumimoji="0" lang="en-US" altLang="en-US" sz="1800" b="0" i="0" u="none" strike="noStrike" cap="none" normalizeH="0" baseline="0" dirty="0">
              <a:ln>
                <a:noFill/>
              </a:ln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285750" indent="-28575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Sistem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zasnovan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zavisnostima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između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podataka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7609650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6D5610-6381-8BC4-CCC0-AB91E2F2B3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effectLst/>
              </a:rPr>
              <a:t>RxJS</a:t>
            </a:r>
            <a:r>
              <a:rPr lang="en-US" dirty="0">
                <a:effectLst/>
              </a:rPr>
              <a:t> (Reactive Extensions for JavaScript)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0FD1D5-89DB-3F8B-A2A8-A383A9C69F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Rad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asinhronim</a:t>
            </a:r>
            <a:r>
              <a:rPr lang="en-US" dirty="0"/>
              <a:t> </a:t>
            </a:r>
            <a:r>
              <a:rPr lang="en-US" dirty="0" err="1"/>
              <a:t>tokovima</a:t>
            </a:r>
            <a:r>
              <a:rPr lang="en-US" dirty="0"/>
              <a:t> </a:t>
            </a:r>
            <a:r>
              <a:rPr lang="en-US" dirty="0" err="1"/>
              <a:t>podataka</a:t>
            </a:r>
            <a:endParaRPr lang="en-US" dirty="0"/>
          </a:p>
          <a:p>
            <a:r>
              <a:rPr lang="en-US" dirty="0"/>
              <a:t>Observable – </a:t>
            </a:r>
            <a:r>
              <a:rPr lang="en-US" dirty="0" err="1"/>
              <a:t>tok</a:t>
            </a:r>
            <a:r>
              <a:rPr lang="en-US" dirty="0"/>
              <a:t> </a:t>
            </a:r>
            <a:r>
              <a:rPr lang="en-US" dirty="0" err="1"/>
              <a:t>vrednosti</a:t>
            </a:r>
            <a:r>
              <a:rPr lang="en-US" dirty="0"/>
              <a:t> </a:t>
            </a:r>
            <a:r>
              <a:rPr lang="en-US" dirty="0" err="1"/>
              <a:t>koje</a:t>
            </a:r>
            <a:r>
              <a:rPr lang="en-US" dirty="0"/>
              <a:t> se </a:t>
            </a:r>
            <a:r>
              <a:rPr lang="en-US" dirty="0" err="1"/>
              <a:t>emituju</a:t>
            </a:r>
            <a:r>
              <a:rPr lang="en-US" dirty="0"/>
              <a:t> </a:t>
            </a:r>
            <a:r>
              <a:rPr lang="en-US" dirty="0" err="1"/>
              <a:t>tokom</a:t>
            </a:r>
            <a:r>
              <a:rPr lang="en-US" dirty="0"/>
              <a:t> </a:t>
            </a:r>
            <a:r>
              <a:rPr lang="en-US" dirty="0" err="1"/>
              <a:t>vremena</a:t>
            </a:r>
            <a:endParaRPr lang="en-US" dirty="0"/>
          </a:p>
          <a:p>
            <a:endParaRPr lang="en-US" dirty="0"/>
          </a:p>
          <a:p>
            <a:r>
              <a:rPr lang="en-US" dirty="0"/>
              <a:t>HTTP </a:t>
            </a:r>
            <a:r>
              <a:rPr lang="en-US" dirty="0" err="1"/>
              <a:t>zahtevi</a:t>
            </a:r>
            <a:endParaRPr lang="en-US" dirty="0"/>
          </a:p>
          <a:p>
            <a:r>
              <a:rPr lang="en-US" dirty="0"/>
              <a:t>User input events (click, scroll, mouse move)</a:t>
            </a:r>
          </a:p>
          <a:p>
            <a:r>
              <a:rPr lang="en-US" dirty="0" err="1"/>
              <a:t>Timeri</a:t>
            </a:r>
            <a:r>
              <a:rPr lang="en-US" dirty="0"/>
              <a:t>, </a:t>
            </a:r>
            <a:r>
              <a:rPr lang="en-US" dirty="0" err="1"/>
              <a:t>intervali</a:t>
            </a:r>
            <a:r>
              <a:rPr lang="en-US" dirty="0"/>
              <a:t>, WebSocket (real-time </a:t>
            </a:r>
            <a:r>
              <a:rPr lang="en-US" dirty="0" err="1"/>
              <a:t>podaci</a:t>
            </a:r>
            <a:r>
              <a:rPr lang="en-US" dirty="0"/>
              <a:t>)</a:t>
            </a:r>
          </a:p>
          <a:p>
            <a:r>
              <a:rPr lang="en-US" dirty="0" err="1"/>
              <a:t>Kompleksne</a:t>
            </a:r>
            <a:r>
              <a:rPr lang="en-US" dirty="0"/>
              <a:t> </a:t>
            </a:r>
            <a:r>
              <a:rPr lang="en-US" dirty="0" err="1"/>
              <a:t>asinhrone</a:t>
            </a:r>
            <a:r>
              <a:rPr lang="en-US" dirty="0"/>
              <a:t> </a:t>
            </a:r>
            <a:r>
              <a:rPr lang="en-US" dirty="0" err="1"/>
              <a:t>tranformacije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581635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71F96B-4D3B-5B68-3288-E456173A6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effectLst/>
              </a:rPr>
              <a:t>RxJS</a:t>
            </a:r>
            <a:r>
              <a:rPr lang="en-US" dirty="0">
                <a:effectLst/>
              </a:rPr>
              <a:t> (Reactive Extensions for JavaScript)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B4B969-FE5C-FAEA-C1FB-E4EE984393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6900" indent="0" algn="ctr">
              <a:buNone/>
            </a:pPr>
            <a:r>
              <a:rPr lang="sr-Latn-RS" sz="2800" dirty="0"/>
              <a:t>Šta rade </a:t>
            </a:r>
            <a:r>
              <a:rPr lang="en-US" sz="2800" dirty="0"/>
              <a:t>O</a:t>
            </a:r>
            <a:r>
              <a:rPr lang="sr-Latn-RS" sz="2800" dirty="0"/>
              <a:t>bservables</a:t>
            </a:r>
            <a:r>
              <a:rPr lang="en-US" sz="2800" dirty="0"/>
              <a:t>?</a:t>
            </a:r>
            <a:endParaRPr lang="sr-Latn-RS" sz="2800" dirty="0"/>
          </a:p>
          <a:p>
            <a:pPr marL="36900" indent="0" algn="ctr">
              <a:buNone/>
            </a:pPr>
            <a:r>
              <a:rPr lang="sr-Latn-RS" sz="2800" dirty="0"/>
              <a:t>Ništa</a:t>
            </a:r>
            <a:r>
              <a:rPr lang="en-US" sz="2800" dirty="0"/>
              <a:t>!</a:t>
            </a:r>
          </a:p>
          <a:p>
            <a:endParaRPr lang="en-US" dirty="0"/>
          </a:p>
          <a:p>
            <a:r>
              <a:rPr lang="en-US" dirty="0"/>
              <a:t>Observable ≠ Execution</a:t>
            </a:r>
          </a:p>
          <a:p>
            <a:r>
              <a:rPr lang="en-US" dirty="0"/>
              <a:t>Subscribe = Start (</a:t>
            </a:r>
            <a:r>
              <a:rPr lang="en-US" dirty="0" err="1"/>
              <a:t>aktivira</a:t>
            </a:r>
            <a:r>
              <a:rPr lang="en-US" dirty="0"/>
              <a:t> </a:t>
            </a:r>
            <a:r>
              <a:rPr lang="en-US" dirty="0" err="1"/>
              <a:t>tok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)</a:t>
            </a:r>
            <a:endParaRPr lang="sr-Latn-RS" dirty="0"/>
          </a:p>
          <a:p>
            <a:pPr marL="36900" indent="0">
              <a:buNone/>
            </a:pPr>
            <a:endParaRPr lang="en-US" dirty="0"/>
          </a:p>
          <a:p>
            <a:pPr marL="3690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65887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2A283-9F34-D7B6-26AA-CCE1251C1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effectLst/>
              </a:rPr>
              <a:t>RxJS</a:t>
            </a:r>
            <a:r>
              <a:rPr lang="en-US" dirty="0">
                <a:effectLst/>
              </a:rPr>
              <a:t> (Reactive Extensions for JavaScript)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6346AA-862E-437B-683E-6DD7D6FFE9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6900" indent="0">
              <a:buNone/>
            </a:pPr>
            <a:r>
              <a:rPr lang="en-US" dirty="0"/>
              <a:t>Observable notifications</a:t>
            </a:r>
            <a:endParaRPr lang="sr-Latn-RS" dirty="0"/>
          </a:p>
          <a:p>
            <a:pPr lvl="1"/>
            <a:r>
              <a:rPr lang="sr-Latn-RS" dirty="0"/>
              <a:t>next – nova vrednost</a:t>
            </a:r>
          </a:p>
          <a:p>
            <a:pPr lvl="1"/>
            <a:r>
              <a:rPr lang="sr-Latn-RS" dirty="0"/>
              <a:t>error – tok se prekida</a:t>
            </a:r>
          </a:p>
          <a:p>
            <a:pPr lvl="1"/>
            <a:r>
              <a:rPr lang="sr-Latn-RS" dirty="0"/>
              <a:t>complete – kraj toka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39034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87C0F8-F6E9-7F3A-CB1A-E69222178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effectLst/>
              </a:rPr>
              <a:t>RxJS</a:t>
            </a:r>
            <a:r>
              <a:rPr lang="en-US" dirty="0">
                <a:effectLst/>
              </a:rPr>
              <a:t> (Reactive Extensions for JavaScript)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82E800-7E5C-ED77-AE21-06A1ED8FAB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</a:t>
            </a:r>
            <a:r>
              <a:rPr lang="sr-Latn-RS" dirty="0"/>
              <a:t>č</a:t>
            </a:r>
            <a:r>
              <a:rPr lang="en-US" dirty="0"/>
              <a:t>no </a:t>
            </a:r>
            <a:r>
              <a:rPr lang="en-US" dirty="0" err="1"/>
              <a:t>upravljanje</a:t>
            </a:r>
            <a:r>
              <a:rPr lang="en-US" dirty="0"/>
              <a:t> </a:t>
            </a:r>
            <a:r>
              <a:rPr lang="en-US" dirty="0" err="1"/>
              <a:t>pretplatama</a:t>
            </a:r>
            <a:r>
              <a:rPr lang="sr-Latn-RS" dirty="0"/>
              <a:t> </a:t>
            </a:r>
            <a:br>
              <a:rPr lang="en-US" dirty="0"/>
            </a:br>
            <a:endParaRPr lang="sr-Latn-R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7DE3718A-8078-89D9-797D-8D08BC1D5A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622" y="2642150"/>
            <a:ext cx="10300583" cy="335859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887616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740C1-A4EC-A093-F1CC-23104A850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effectLst/>
              </a:rPr>
              <a:t>RxJS</a:t>
            </a:r>
            <a:r>
              <a:rPr lang="en-US" dirty="0">
                <a:effectLst/>
              </a:rPr>
              <a:t> (Reactive Extensions for JavaScript)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D683E4-1FED-B7B2-5D4B-2E3B51FEA3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r-Latn-RS" dirty="0">
                <a:effectLst/>
              </a:rPr>
              <a:t>Bogat skup operatora </a:t>
            </a:r>
            <a:r>
              <a:rPr lang="en-GB" dirty="0">
                <a:effectLst/>
              </a:rPr>
              <a:t>map, filter, </a:t>
            </a:r>
            <a:r>
              <a:rPr lang="en-GB" dirty="0" err="1">
                <a:effectLst/>
              </a:rPr>
              <a:t>switchMap</a:t>
            </a:r>
            <a:r>
              <a:rPr lang="en-GB" dirty="0">
                <a:effectLst/>
              </a:rPr>
              <a:t>, </a:t>
            </a:r>
            <a:r>
              <a:rPr lang="en-GB" dirty="0" err="1">
                <a:effectLst/>
              </a:rPr>
              <a:t>debounceTime</a:t>
            </a:r>
            <a:r>
              <a:rPr lang="en-GB" dirty="0">
                <a:effectLst/>
              </a:rPr>
              <a:t> </a:t>
            </a:r>
            <a:r>
              <a:rPr lang="en-GB" dirty="0" err="1">
                <a:effectLst/>
              </a:rPr>
              <a:t>i</a:t>
            </a:r>
            <a:r>
              <a:rPr lang="en-GB" dirty="0">
                <a:effectLst/>
              </a:rPr>
              <a:t> </a:t>
            </a:r>
            <a:r>
              <a:rPr lang="en-GB" dirty="0" err="1">
                <a:effectLst/>
              </a:rPr>
              <a:t>combineLatest</a:t>
            </a:r>
            <a:r>
              <a:rPr lang="sr-Latn-RS" dirty="0">
                <a:effectLst/>
              </a:rPr>
              <a:t>...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57DAB27-1108-6A27-4F4B-8F2C2A6CC0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137" y="3043125"/>
            <a:ext cx="4839375" cy="16099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5628543-4C47-685F-1F55-235B38B232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137" y="4724187"/>
            <a:ext cx="6773220" cy="152421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3FB8487-ECE2-4D66-D9E6-4B31DDB201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0750" y="5919461"/>
            <a:ext cx="4648849" cy="38105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912B0E9-CCAA-ED00-EECE-C13FE05262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3642" y="2973572"/>
            <a:ext cx="5305577" cy="164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45520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9CF75-1FCA-ADF8-0895-F9F8A79E8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effectLst/>
              </a:rPr>
              <a:t>RxJS</a:t>
            </a:r>
            <a:r>
              <a:rPr lang="en-US" dirty="0">
                <a:effectLst/>
              </a:rPr>
              <a:t> (Reactive Extensions for JavaScript)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A60DBD-FE75-1110-E349-01585BE2F5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r-Latn-RS" dirty="0"/>
              <a:t>Prednosti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C00A5DE-C43E-C9CC-93FB-BC683FB9E6D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sr-Latn-RS" dirty="0"/>
              <a:t>Moćan za asinhrone tokove</a:t>
            </a:r>
          </a:p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4904DD5-A2D1-EEBB-5953-ADDECEB89D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sr-Latn-RS" dirty="0"/>
              <a:t>Mane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6C6A3A0-91B7-53F1-99D3-CF8AD22D7F0B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sr-Latn-RS" dirty="0"/>
              <a:t>Kompleksnost</a:t>
            </a:r>
          </a:p>
          <a:p>
            <a:r>
              <a:rPr lang="sr-Latn-RS" dirty="0"/>
              <a:t>Subscribe/unsubscribe</a:t>
            </a:r>
          </a:p>
        </p:txBody>
      </p:sp>
    </p:spTree>
    <p:extLst>
      <p:ext uri="{BB962C8B-B14F-4D97-AF65-F5344CB8AC3E}">
        <p14:creationId xmlns:p14="http://schemas.microsoft.com/office/powerpoint/2010/main" val="6778342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7A5D2-144F-8264-D0E0-85C8CC643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Angular Signals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49908-9B92-7624-7ADF-3EA473ED2E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2076450"/>
            <a:ext cx="10353762" cy="4333875"/>
          </a:xfrm>
        </p:spPr>
        <p:txBody>
          <a:bodyPr>
            <a:normAutofit/>
          </a:bodyPr>
          <a:lstStyle/>
          <a:p>
            <a:r>
              <a:rPr lang="sr-Latn-RS" dirty="0"/>
              <a:t>Angular V&gt;15</a:t>
            </a:r>
          </a:p>
          <a:p>
            <a:r>
              <a:rPr lang="sr-Latn-RS" dirty="0"/>
              <a:t>Reaktivni kontejner za vrednost</a:t>
            </a:r>
          </a:p>
          <a:p>
            <a:endParaRPr lang="sr-Latn-RS" dirty="0"/>
          </a:p>
          <a:p>
            <a:endParaRPr lang="sr-Latn-RS" dirty="0"/>
          </a:p>
          <a:p>
            <a:r>
              <a:rPr lang="sr-Latn-RS" dirty="0"/>
              <a:t>Vrednost se čita pozivom allProducts(), selectedProduct(), searchPattern()</a:t>
            </a:r>
          </a:p>
          <a:p>
            <a:pPr marL="36900" indent="0">
              <a:buNone/>
            </a:pPr>
            <a:r>
              <a:rPr lang="sr-Latn-RS" dirty="0"/>
              <a:t>	</a:t>
            </a:r>
          </a:p>
          <a:p>
            <a:endParaRPr lang="sr-Latn-RS" dirty="0"/>
          </a:p>
          <a:p>
            <a:endParaRPr lang="sr-Latn-RS" dirty="0"/>
          </a:p>
          <a:p>
            <a:pPr marL="36900" indent="0">
              <a:buNone/>
            </a:pPr>
            <a:endParaRPr lang="sr-Latn-R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A0F0E95-B302-E781-B7D0-78F6F752FE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764" y="3224174"/>
            <a:ext cx="5863574" cy="83347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0720700-9583-0925-6543-28DFEBC380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764" y="4919582"/>
            <a:ext cx="3581900" cy="115268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01567E4-3438-5635-B1C7-BA4224EF32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9633" y="4919582"/>
            <a:ext cx="6935168" cy="666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67753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B5EBD4B-6BAD-6D22-DCFF-33A1C3A7F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Angular Signals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1E340F0-DC9B-BCA2-E3BE-10B2E6E6F2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r-Latn-RS" dirty="0"/>
              <a:t>Writable 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0925CDE-D553-28B4-7EC3-58DE8DDA8C89}"/>
              </a:ext>
            </a:extLst>
          </p:cNvPr>
          <p:cNvSpPr>
            <a:spLocks noGrp="1"/>
          </p:cNvSpPr>
          <p:nvPr>
            <p:ph type="body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761CAF2-A07D-9ABB-252A-CDA9F70349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26349" y="1856939"/>
            <a:ext cx="3300984" cy="764783"/>
          </a:xfrm>
        </p:spPr>
        <p:txBody>
          <a:bodyPr/>
          <a:lstStyle/>
          <a:p>
            <a:r>
              <a:rPr lang="sr-Latn-RS" dirty="0"/>
              <a:t>Computed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DF617E5-1E95-35AF-5726-382BCA50D0DA}"/>
              </a:ext>
            </a:extLst>
          </p:cNvPr>
          <p:cNvSpPr>
            <a:spLocks noGrp="1"/>
          </p:cNvSpPr>
          <p:nvPr>
            <p:ph type="body" sz="half" idx="16"/>
          </p:nvPr>
        </p:nvSpPr>
        <p:spPr>
          <a:xfrm>
            <a:off x="4441434" y="2768112"/>
            <a:ext cx="4425122" cy="3023088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16F040-C623-1AEA-169F-EB8F810047C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38331" y="1856940"/>
            <a:ext cx="3300984" cy="764782"/>
          </a:xfrm>
        </p:spPr>
        <p:txBody>
          <a:bodyPr/>
          <a:lstStyle/>
          <a:p>
            <a:r>
              <a:rPr lang="sr-Latn-RS" dirty="0"/>
              <a:t>Effect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A6BA031-D131-327B-DDEF-F7145A138ECA}"/>
              </a:ext>
            </a:extLst>
          </p:cNvPr>
          <p:cNvSpPr>
            <a:spLocks noGrp="1"/>
          </p:cNvSpPr>
          <p:nvPr>
            <p:ph type="body" sz="half" idx="17"/>
          </p:nvPr>
        </p:nvSpPr>
        <p:spPr>
          <a:xfrm>
            <a:off x="8995272" y="2797448"/>
            <a:ext cx="2387103" cy="3023089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02DB338-F7A9-9CA6-DC24-ABEFD2F3E3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3429000"/>
            <a:ext cx="3172268" cy="21910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FC2FCE5-3AD2-4651-1F8C-C227D9859F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188" y="3952575"/>
            <a:ext cx="3138612" cy="71283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6DBD64C-4746-BF6E-8F8C-97856B2DB2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7127" y="3429000"/>
            <a:ext cx="4379429" cy="167448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C0325EB0-779D-5290-8EE5-44ACE41224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76206" y="3429000"/>
            <a:ext cx="2225233" cy="861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6513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CA2D53-A079-ECE7-7426-9E79B8E64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Angular Signals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D1C8AE-7926-4149-87BB-BD760390C0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r-Latn-RS" dirty="0"/>
              <a:t>Writable signal</a:t>
            </a:r>
          </a:p>
          <a:p>
            <a:r>
              <a:rPr lang="sr-Latn-RS" dirty="0"/>
              <a:t>Vrednost se menja pomoću: </a:t>
            </a:r>
          </a:p>
          <a:p>
            <a:pPr marL="450000" lvl="1" indent="0">
              <a:buNone/>
            </a:pPr>
            <a:r>
              <a:rPr lang="sr-Latn-RS" dirty="0"/>
              <a:t>set(new value)												update(fn)								</a:t>
            </a:r>
          </a:p>
          <a:p>
            <a:pPr lvl="1"/>
            <a:endParaRPr lang="sr-Latn-R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909784-C9E2-F2E9-CE0C-EAB26543CD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141" y="3885629"/>
            <a:ext cx="3715268" cy="134321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23B271C-9322-33F1-F73A-369FF6E29D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9590" y="3885629"/>
            <a:ext cx="4897967" cy="2210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6164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E1014-6567-93DA-680E-5EBA659FE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RxJS i Angular Signals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E50E402-E6EC-51DC-07DA-8294F0A533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83A9B5B-FBE1-585A-BACF-951953CB56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937" y="2276037"/>
            <a:ext cx="4839375" cy="16099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F25B052-FE27-01E5-3A22-ED573651FF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937" y="4095537"/>
            <a:ext cx="6773220" cy="1524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97473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D4FD635-0872-A4C8-1C39-51BA540841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550" y="54503"/>
            <a:ext cx="9587380" cy="6736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83050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84F07A-A2C2-6B50-3992-8C1C9ED82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322249"/>
            <a:ext cx="10353762" cy="807463"/>
          </a:xfrm>
        </p:spPr>
        <p:txBody>
          <a:bodyPr>
            <a:normAutofit/>
          </a:bodyPr>
          <a:lstStyle/>
          <a:p>
            <a:r>
              <a:rPr lang="en-US" sz="3200" dirty="0" err="1"/>
              <a:t>Pojednostavljenje</a:t>
            </a:r>
            <a:r>
              <a:rPr lang="en-US" sz="3200" dirty="0"/>
              <a:t> </a:t>
            </a:r>
            <a:r>
              <a:rPr lang="en-US" sz="3200" dirty="0" err="1"/>
              <a:t>koda</a:t>
            </a:r>
            <a:r>
              <a:rPr lang="en-US" sz="3200" dirty="0"/>
              <a:t>: Signals vs </a:t>
            </a:r>
            <a:r>
              <a:rPr lang="en-US" sz="3200" dirty="0" err="1"/>
              <a:t>RxJS</a:t>
            </a:r>
            <a:endParaRPr lang="en-US" sz="32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B4B9EE-4F6F-FFCE-D72B-3BC2875623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46013" y="1629309"/>
            <a:ext cx="4764764" cy="451685"/>
          </a:xfrm>
        </p:spPr>
        <p:txBody>
          <a:bodyPr/>
          <a:lstStyle/>
          <a:p>
            <a:r>
              <a:rPr lang="en-US" dirty="0" err="1"/>
              <a:t>RxJS</a:t>
            </a:r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0753276C-962B-6296-ACC1-570DA9F4598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919119" y="2080994"/>
            <a:ext cx="4764087" cy="1454098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B9BF101-22D7-DC8C-571C-2B507BA120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00413" y="1804389"/>
            <a:ext cx="4779582" cy="276605"/>
          </a:xfrm>
        </p:spPr>
        <p:txBody>
          <a:bodyPr/>
          <a:lstStyle/>
          <a:p>
            <a:r>
              <a:rPr lang="en-US" dirty="0"/>
              <a:t>Angular Signals</a:t>
            </a:r>
          </a:p>
        </p:txBody>
      </p:sp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D8F89704-C21E-D6CD-354C-4A60FD42DA8B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40172" y="2080996"/>
            <a:ext cx="4445758" cy="185700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5A4A8725-B494-0EF2-3191-04FEA65A14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0171" y="3937998"/>
            <a:ext cx="3687065" cy="179029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18F9058D-4796-465C-7671-46EC273238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62684" y="4185063"/>
            <a:ext cx="2810199" cy="50583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C83FC6-0DED-0A36-E546-628C4604CC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760" y="3762397"/>
            <a:ext cx="4722446" cy="18570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A0F582F-E1FD-21AC-50AC-33B3C00B3E9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28395" y="3762397"/>
            <a:ext cx="2491137" cy="557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33470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21DE3-6CCD-FE0A-9E79-0C409CE6D2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Zaključak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D8CAAB-881A-807F-EB55-F2C0A1AAF0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r-Latn-RS" dirty="0"/>
              <a:t>Signali nisu zamena za RxJS</a:t>
            </a:r>
          </a:p>
          <a:p>
            <a:r>
              <a:rPr lang="sr-Latn-RS" dirty="0"/>
              <a:t>RxJS + Angular Signals = čistiji, čitljiviji i efikasniji kod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71984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7045B-39F7-074A-042D-59D4BBA54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581835"/>
            <a:ext cx="10353762" cy="1257300"/>
          </a:xfrm>
        </p:spPr>
        <p:txBody>
          <a:bodyPr/>
          <a:lstStyle/>
          <a:p>
            <a:r>
              <a:rPr lang="sr-Latn-RS" dirty="0"/>
              <a:t>Hvala na pažnji!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799774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VTI">
  <a:themeElements>
    <a:clrScheme name="Custom 35">
      <a:dk1>
        <a:sysClr val="windowText" lastClr="000000"/>
      </a:dk1>
      <a:lt1>
        <a:sysClr val="window" lastClr="FFFFFF"/>
      </a:lt1>
      <a:dk2>
        <a:srgbClr val="4E3B30"/>
      </a:dk2>
      <a:lt2>
        <a:srgbClr val="F4EDD8"/>
      </a:lt2>
      <a:accent1>
        <a:srgbClr val="F0A22E"/>
      </a:accent1>
      <a:accent2>
        <a:srgbClr val="A5644E"/>
      </a:accent2>
      <a:accent3>
        <a:srgbClr val="B58B80"/>
      </a:accent3>
      <a:accent4>
        <a:srgbClr val="C3986D"/>
      </a:accent4>
      <a:accent5>
        <a:srgbClr val="A19574"/>
      </a:accent5>
      <a:accent6>
        <a:srgbClr val="C17529"/>
      </a:accent6>
      <a:hlink>
        <a:srgbClr val="AD1F1F"/>
      </a:hlink>
      <a:folHlink>
        <a:srgbClr val="FFC42F"/>
      </a:folHlink>
    </a:clrScheme>
    <a:fontScheme name="Custom 4">
      <a:majorFont>
        <a:latin typeface="Goudy Old Style"/>
        <a:ea typeface=""/>
        <a:cs typeface=""/>
      </a:majorFont>
      <a:minorFont>
        <a:latin typeface="Goudy Old Style"/>
        <a:ea typeface=""/>
        <a:cs typeface="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VTI" id="{35C4A07C-0176-4A32-9BCB-B016516853F0}" vid="{9B70D35C-BCA8-4715-BB49-8BE54A7FC07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Green">
    <a:dk1>
      <a:sysClr val="windowText" lastClr="000000"/>
    </a:dk1>
    <a:lt1>
      <a:sysClr val="window" lastClr="FFFFFF"/>
    </a:lt1>
    <a:dk2>
      <a:srgbClr val="455F51"/>
    </a:dk2>
    <a:lt2>
      <a:srgbClr val="E3DED1"/>
    </a:lt2>
    <a:accent1>
      <a:srgbClr val="549E39"/>
    </a:accent1>
    <a:accent2>
      <a:srgbClr val="8AB833"/>
    </a:accent2>
    <a:accent3>
      <a:srgbClr val="C0CF3A"/>
    </a:accent3>
    <a:accent4>
      <a:srgbClr val="029676"/>
    </a:accent4>
    <a:accent5>
      <a:srgbClr val="4AB5C4"/>
    </a:accent5>
    <a:accent6>
      <a:srgbClr val="0989B1"/>
    </a:accent6>
    <a:hlink>
      <a:srgbClr val="6B9F25"/>
    </a:hlink>
    <a:folHlink>
      <a:srgbClr val="BA6906"/>
    </a:folHlink>
  </a:clrScheme>
</a:themeOverride>
</file>

<file path=ppt/theme/themeOverride2.xml><?xml version="1.0" encoding="utf-8"?>
<a:themeOverride xmlns:a="http://schemas.openxmlformats.org/drawingml/2006/main">
  <a:clrScheme name="Green">
    <a:dk1>
      <a:sysClr val="windowText" lastClr="000000"/>
    </a:dk1>
    <a:lt1>
      <a:sysClr val="window" lastClr="FFFFFF"/>
    </a:lt1>
    <a:dk2>
      <a:srgbClr val="455F51"/>
    </a:dk2>
    <a:lt2>
      <a:srgbClr val="E3DED1"/>
    </a:lt2>
    <a:accent1>
      <a:srgbClr val="549E39"/>
    </a:accent1>
    <a:accent2>
      <a:srgbClr val="8AB833"/>
    </a:accent2>
    <a:accent3>
      <a:srgbClr val="C0CF3A"/>
    </a:accent3>
    <a:accent4>
      <a:srgbClr val="029676"/>
    </a:accent4>
    <a:accent5>
      <a:srgbClr val="4AB5C4"/>
    </a:accent5>
    <a:accent6>
      <a:srgbClr val="0989B1"/>
    </a:accent6>
    <a:hlink>
      <a:srgbClr val="6B9F25"/>
    </a:hlink>
    <a:folHlink>
      <a:srgbClr val="BA6906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410dd7f93c95333ffa1b60ed6adedd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a936d9baba76aa3866493feff160faab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585E981-8C91-4205-A0C3-C991F42B4C9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C4C00F4-06E9-43E3-AD97-88A857CEFA82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64B270AB-C138-415C-897E-3C24487DECF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{1774DAF4-3327-42D8-9D8F-88E6F983D1B6}TFe742eee6-54b3-45e8-a03d-f3d997f9b6caf6c338c2_win32-3734725ae7e2</Template>
  <TotalTime>404</TotalTime>
  <Words>306</Words>
  <Application>Microsoft Office PowerPoint</Application>
  <PresentationFormat>Widescreen</PresentationFormat>
  <Paragraphs>79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Arial</vt:lpstr>
      <vt:lpstr>Calibri</vt:lpstr>
      <vt:lpstr>Courier New</vt:lpstr>
      <vt:lpstr>Goudy Old Style</vt:lpstr>
      <vt:lpstr>Wingdings 2</vt:lpstr>
      <vt:lpstr>SlateVTI</vt:lpstr>
      <vt:lpstr>Angular Signals i RxJS: Reaktivna Shopping Cart aplikacija </vt:lpstr>
      <vt:lpstr>Sadržaj:</vt:lpstr>
      <vt:lpstr>Reaktivno programiranje u Angularu</vt:lpstr>
      <vt:lpstr>RxJS (Reactive Extensions for JavaScript)</vt:lpstr>
      <vt:lpstr>RxJS (Reactive Extensions for JavaScript)</vt:lpstr>
      <vt:lpstr>RxJS (Reactive Extensions for JavaScript)</vt:lpstr>
      <vt:lpstr>RxJS (Reactive Extensions for JavaScript)</vt:lpstr>
      <vt:lpstr>RxJS (Reactive Extensions for JavaScript)</vt:lpstr>
      <vt:lpstr>RxJS (Reactive Extensions for JavaScript)</vt:lpstr>
      <vt:lpstr>Angular Signals</vt:lpstr>
      <vt:lpstr>Angular Signals</vt:lpstr>
      <vt:lpstr>Angular Signals</vt:lpstr>
      <vt:lpstr>RxJS i Angular Signals</vt:lpstr>
      <vt:lpstr>PowerPoint Presentation</vt:lpstr>
      <vt:lpstr>Pojednostavljenje koda: Signals vs RxJS</vt:lpstr>
      <vt:lpstr>Zaključak</vt:lpstr>
      <vt:lpstr>Hvala na pažnji!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Anita Golubovic</dc:creator>
  <cp:lastModifiedBy>Anita Golubovic</cp:lastModifiedBy>
  <cp:revision>15</cp:revision>
  <dcterms:created xsi:type="dcterms:W3CDTF">2026-01-04T15:59:55Z</dcterms:created>
  <dcterms:modified xsi:type="dcterms:W3CDTF">2026-01-05T21:35:54Z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